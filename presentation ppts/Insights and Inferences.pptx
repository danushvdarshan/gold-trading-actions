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0693400" cy="7556500"/>
  <p:notesSz cx="10693400" cy="7556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5"/>
            <a:ext cx="9089390" cy="1586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rgbClr val="1A1A1A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1640"/>
            <a:ext cx="7485380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0" i="0">
                <a:solidFill>
                  <a:srgbClr val="1A1A1A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0" i="0">
                <a:solidFill>
                  <a:srgbClr val="1A1A1A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3467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507101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0" i="0">
                <a:solidFill>
                  <a:srgbClr val="1A1A1A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1022" y="6805325"/>
            <a:ext cx="10301876" cy="312177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5379" y="2648798"/>
            <a:ext cx="701523" cy="1031239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84746" y="2655813"/>
            <a:ext cx="445467" cy="1024224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31736" y="2659321"/>
            <a:ext cx="719061" cy="1020716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638489" y="2655813"/>
            <a:ext cx="1213636" cy="1052285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01022" y="438998"/>
            <a:ext cx="10301876" cy="536665"/>
          </a:xfrm>
          <a:prstGeom prst="rect">
            <a:avLst/>
          </a:prstGeom>
        </p:spPr>
      </p:pic>
      <p:sp>
        <p:nvSpPr>
          <p:cNvPr id="22" name="bg object 22"/>
          <p:cNvSpPr/>
          <p:nvPr/>
        </p:nvSpPr>
        <p:spPr>
          <a:xfrm>
            <a:off x="204179" y="413275"/>
            <a:ext cx="0" cy="6706234"/>
          </a:xfrm>
          <a:custGeom>
            <a:avLst/>
            <a:gdLst/>
            <a:ahLst/>
            <a:cxnLst/>
            <a:rect l="l" t="t" r="r" b="b"/>
            <a:pathLst>
              <a:path w="0" h="6706234">
                <a:moveTo>
                  <a:pt x="0" y="6706096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202659" y="7114814"/>
            <a:ext cx="10311765" cy="0"/>
          </a:xfrm>
          <a:custGeom>
            <a:avLst/>
            <a:gdLst/>
            <a:ahLst/>
            <a:cxnLst/>
            <a:rect l="l" t="t" r="r" b="b"/>
            <a:pathLst>
              <a:path w="10311765" h="0">
                <a:moveTo>
                  <a:pt x="0" y="0"/>
                </a:moveTo>
                <a:lnTo>
                  <a:pt x="1031146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202659" y="6792580"/>
            <a:ext cx="10311765" cy="0"/>
          </a:xfrm>
          <a:custGeom>
            <a:avLst/>
            <a:gdLst/>
            <a:ahLst/>
            <a:cxnLst/>
            <a:rect l="l" t="t" r="r" b="b"/>
            <a:pathLst>
              <a:path w="10311765" h="0">
                <a:moveTo>
                  <a:pt x="0" y="0"/>
                </a:moveTo>
                <a:lnTo>
                  <a:pt x="1031146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202659" y="983264"/>
            <a:ext cx="10311765" cy="0"/>
          </a:xfrm>
          <a:custGeom>
            <a:avLst/>
            <a:gdLst/>
            <a:ahLst/>
            <a:cxnLst/>
            <a:rect l="l" t="t" r="r" b="b"/>
            <a:pathLst>
              <a:path w="10311765" h="0">
                <a:moveTo>
                  <a:pt x="0" y="0"/>
                </a:moveTo>
                <a:lnTo>
                  <a:pt x="1031146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202659" y="433036"/>
            <a:ext cx="10311765" cy="0"/>
          </a:xfrm>
          <a:custGeom>
            <a:avLst/>
            <a:gdLst/>
            <a:ahLst/>
            <a:cxnLst/>
            <a:rect l="l" t="t" r="r" b="b"/>
            <a:pathLst>
              <a:path w="10311765" h="0">
                <a:moveTo>
                  <a:pt x="0" y="0"/>
                </a:moveTo>
                <a:lnTo>
                  <a:pt x="1031146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27" name="bg object 2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480975" y="3469580"/>
            <a:ext cx="217472" cy="21396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01022" y="6805325"/>
            <a:ext cx="10301876" cy="31217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57514" y="1091674"/>
            <a:ext cx="7507605" cy="7783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rgbClr val="1A1A1A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7995"/>
            <a:ext cx="9624060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635756" y="7027545"/>
            <a:ext cx="3421888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699248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Relationship Id="rId3" Type="http://schemas.openxmlformats.org/officeDocument/2006/relationships/image" Target="../media/image9.jpg"/><Relationship Id="rId4" Type="http://schemas.openxmlformats.org/officeDocument/2006/relationships/image" Target="../media/image10.jpg"/><Relationship Id="rId5" Type="http://schemas.openxmlformats.org/officeDocument/2006/relationships/image" Target="../media/image6.png"/><Relationship Id="rId6" Type="http://schemas.openxmlformats.org/officeDocument/2006/relationships/image" Target="../media/image11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jpg"/><Relationship Id="rId4" Type="http://schemas.openxmlformats.org/officeDocument/2006/relationships/image" Target="../media/image6.png"/><Relationship Id="rId5" Type="http://schemas.openxmlformats.org/officeDocument/2006/relationships/image" Target="../media/image14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jpg"/><Relationship Id="rId3" Type="http://schemas.openxmlformats.org/officeDocument/2006/relationships/image" Target="../media/image6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jpg"/><Relationship Id="rId3" Type="http://schemas.openxmlformats.org/officeDocument/2006/relationships/image" Target="../media/image17.jpg"/><Relationship Id="rId4" Type="http://schemas.openxmlformats.org/officeDocument/2006/relationships/image" Target="../media/image6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145136" y="3767694"/>
            <a:ext cx="3364865" cy="2838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700" spc="-110">
                <a:solidFill>
                  <a:srgbClr val="383838"/>
                </a:solidFill>
                <a:latin typeface="Arial"/>
                <a:cs typeface="Arial"/>
              </a:rPr>
              <a:t>action_Iag_1</a:t>
            </a:r>
            <a:r>
              <a:rPr dirty="0" sz="1700" spc="45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dirty="0" sz="1700" spc="-110">
                <a:solidFill>
                  <a:srgbClr val="383838"/>
                </a:solidFill>
                <a:latin typeface="Arial"/>
                <a:cs typeface="Arial"/>
              </a:rPr>
              <a:t>dominates</a:t>
            </a:r>
            <a:r>
              <a:rPr dirty="0" sz="1700" spc="35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dirty="0" sz="1700" spc="-100">
                <a:solidFill>
                  <a:srgbClr val="3B3B3B"/>
                </a:solidFill>
                <a:latin typeface="Arial"/>
                <a:cs typeface="Arial"/>
              </a:rPr>
              <a:t>gold</a:t>
            </a:r>
            <a:r>
              <a:rPr dirty="0" sz="1700" spc="-75">
                <a:solidFill>
                  <a:srgbClr val="3B3B3B"/>
                </a:solidFill>
                <a:latin typeface="Arial"/>
                <a:cs typeface="Arial"/>
              </a:rPr>
              <a:t> </a:t>
            </a:r>
            <a:r>
              <a:rPr dirty="0" sz="1700" spc="-70">
                <a:solidFill>
                  <a:srgbClr val="3B3B3B"/>
                </a:solidFill>
                <a:latin typeface="Arial"/>
                <a:cs typeface="Arial"/>
              </a:rPr>
              <a:t>prediction</a:t>
            </a:r>
            <a:endParaRPr sz="17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871706" y="2500860"/>
            <a:ext cx="1223645" cy="438150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14604" marR="5080" indent="-2540">
              <a:lnSpc>
                <a:spcPts val="1570"/>
              </a:lnSpc>
              <a:spcBef>
                <a:spcPts val="240"/>
              </a:spcBef>
            </a:pPr>
            <a:r>
              <a:rPr dirty="0" sz="1400" spc="-60">
                <a:solidFill>
                  <a:srgbClr val="212D77"/>
                </a:solidFill>
                <a:latin typeface="Arial"/>
                <a:cs typeface="Arial"/>
              </a:rPr>
              <a:t>BEHAVIOURAL </a:t>
            </a:r>
            <a:r>
              <a:rPr dirty="0" sz="1400" spc="-10">
                <a:solidFill>
                  <a:srgbClr val="131F5B"/>
                </a:solidFill>
                <a:latin typeface="Arial"/>
                <a:cs typeface="Arial"/>
              </a:rPr>
              <a:t>FEATURES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872188" y="3290853"/>
            <a:ext cx="1292225" cy="20827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5">
                <a:solidFill>
                  <a:srgbClr val="212121"/>
                </a:solidFill>
                <a:latin typeface="Arial"/>
                <a:cs typeface="Arial"/>
              </a:rPr>
              <a:t>action_Iag_1:</a:t>
            </a:r>
            <a:r>
              <a:rPr dirty="0" sz="1200" spc="25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1200" spc="-45">
                <a:solidFill>
                  <a:srgbClr val="242424"/>
                </a:solidFill>
                <a:latin typeface="Arial"/>
                <a:cs typeface="Arial"/>
              </a:rPr>
              <a:t>21.4%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872188" y="3638107"/>
            <a:ext cx="1623060" cy="20827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40">
                <a:solidFill>
                  <a:srgbClr val="232323"/>
                </a:solidFill>
                <a:latin typeface="Arial"/>
                <a:cs typeface="Arial"/>
              </a:rPr>
              <a:t>action_seIl_freq</a:t>
            </a:r>
            <a:r>
              <a:rPr dirty="0" sz="1200" spc="135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1200" spc="-35">
                <a:solidFill>
                  <a:srgbClr val="232323"/>
                </a:solidFill>
                <a:latin typeface="Arial"/>
                <a:cs typeface="Arial"/>
              </a:rPr>
              <a:t>5:</a:t>
            </a:r>
            <a:r>
              <a:rPr dirty="0" sz="1200" spc="-105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1200" spc="-45">
                <a:solidFill>
                  <a:srgbClr val="2D2D2D"/>
                </a:solidFill>
                <a:latin typeface="Arial"/>
                <a:cs typeface="Arial"/>
              </a:rPr>
              <a:t>11.3%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872416" y="4219690"/>
            <a:ext cx="1637664" cy="2006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50" spc="-20">
                <a:solidFill>
                  <a:srgbClr val="282828"/>
                </a:solidFill>
                <a:latin typeface="Arial"/>
                <a:cs typeface="Arial"/>
              </a:rPr>
              <a:t>action_buy_freq</a:t>
            </a:r>
            <a:r>
              <a:rPr dirty="0" sz="1150" spc="12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282828"/>
                </a:solidFill>
                <a:latin typeface="Arial"/>
                <a:cs typeface="Arial"/>
              </a:rPr>
              <a:t>5:</a:t>
            </a:r>
            <a:r>
              <a:rPr dirty="0" sz="1150" spc="-85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282828"/>
                </a:solidFill>
                <a:latin typeface="Arial"/>
                <a:cs typeface="Arial"/>
              </a:rPr>
              <a:t>11.0%</a:t>
            </a:r>
            <a:endParaRPr sz="115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870830" y="4815985"/>
            <a:ext cx="958215" cy="2006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50" spc="-145">
                <a:solidFill>
                  <a:srgbClr val="162677"/>
                </a:solidFill>
                <a:latin typeface="Arial Black"/>
                <a:cs typeface="Arial Black"/>
              </a:rPr>
              <a:t>TOTAL:</a:t>
            </a:r>
            <a:r>
              <a:rPr dirty="0" sz="1150" spc="65">
                <a:solidFill>
                  <a:srgbClr val="162677"/>
                </a:solidFill>
                <a:latin typeface="Arial Black"/>
                <a:cs typeface="Arial Black"/>
              </a:rPr>
              <a:t> </a:t>
            </a:r>
            <a:r>
              <a:rPr dirty="0" sz="1150" spc="-145">
                <a:solidFill>
                  <a:srgbClr val="1A2A72"/>
                </a:solidFill>
                <a:latin typeface="Arial Black"/>
                <a:cs typeface="Arial Black"/>
              </a:rPr>
              <a:t>43.7%</a:t>
            </a:r>
            <a:endParaRPr sz="1150">
              <a:latin typeface="Arial Black"/>
              <a:cs typeface="Arial Black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8399143" y="2500860"/>
            <a:ext cx="913765" cy="438150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12700" marR="5080" indent="635">
              <a:lnSpc>
                <a:spcPts val="1570"/>
              </a:lnSpc>
              <a:spcBef>
                <a:spcPts val="240"/>
              </a:spcBef>
            </a:pPr>
            <a:r>
              <a:rPr dirty="0" sz="1400" spc="-10">
                <a:solidFill>
                  <a:srgbClr val="1A2A62"/>
                </a:solidFill>
                <a:latin typeface="Arial"/>
                <a:cs typeface="Arial"/>
              </a:rPr>
              <a:t>PRICE </a:t>
            </a:r>
            <a:r>
              <a:rPr dirty="0" sz="1400" spc="-65">
                <a:solidFill>
                  <a:srgbClr val="282F60"/>
                </a:solidFill>
                <a:latin typeface="Arial"/>
                <a:cs typeface="Arial"/>
              </a:rPr>
              <a:t>FEATURES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8401775" y="3290853"/>
            <a:ext cx="1356995" cy="20827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60">
                <a:solidFill>
                  <a:srgbClr val="212121"/>
                </a:solidFill>
                <a:latin typeface="Arial"/>
                <a:cs typeface="Arial"/>
              </a:rPr>
              <a:t>goId_return_3d:</a:t>
            </a:r>
            <a:r>
              <a:rPr dirty="0" sz="120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282828"/>
                </a:solidFill>
                <a:latin typeface="Arial"/>
                <a:cs typeface="Arial"/>
              </a:rPr>
              <a:t>1.8%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8402193" y="3875943"/>
            <a:ext cx="1146810" cy="2006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50">
                <a:solidFill>
                  <a:srgbClr val="262626"/>
                </a:solidFill>
                <a:latin typeface="Arial"/>
                <a:cs typeface="Arial"/>
              </a:rPr>
              <a:t>silver</a:t>
            </a:r>
            <a:r>
              <a:rPr dirty="0" sz="1150" spc="160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1150" spc="-30">
                <a:solidFill>
                  <a:srgbClr val="262626"/>
                </a:solidFill>
                <a:latin typeface="Arial"/>
                <a:cs typeface="Arial"/>
              </a:rPr>
              <a:t>close:</a:t>
            </a:r>
            <a:r>
              <a:rPr dirty="0" sz="1150" spc="-50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1150" spc="-20">
                <a:solidFill>
                  <a:srgbClr val="262626"/>
                </a:solidFill>
                <a:latin typeface="Arial"/>
                <a:cs typeface="Arial"/>
              </a:rPr>
              <a:t>1.6%</a:t>
            </a:r>
            <a:endParaRPr sz="115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8397970" y="4444859"/>
            <a:ext cx="1041400" cy="20827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>
                <a:solidFill>
                  <a:srgbClr val="282828"/>
                </a:solidFill>
                <a:latin typeface="Arial"/>
                <a:cs typeface="Arial"/>
              </a:rPr>
              <a:t>dxy</a:t>
            </a:r>
            <a:r>
              <a:rPr dirty="0" sz="1200" spc="125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200" spc="-50">
                <a:solidFill>
                  <a:srgbClr val="282828"/>
                </a:solidFill>
                <a:latin typeface="Arial"/>
                <a:cs typeface="Arial"/>
              </a:rPr>
              <a:t>close:</a:t>
            </a:r>
            <a:r>
              <a:rPr dirty="0" sz="1200" spc="-6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200" spc="-35">
                <a:solidFill>
                  <a:srgbClr val="282828"/>
                </a:solidFill>
                <a:latin typeface="Arial"/>
                <a:cs typeface="Arial"/>
              </a:rPr>
              <a:t>1.4%</a:t>
            </a:r>
            <a:endParaRPr sz="120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8396394" y="4822318"/>
            <a:ext cx="85026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>
                <a:solidFill>
                  <a:srgbClr val="162677"/>
                </a:solidFill>
                <a:latin typeface="Arial"/>
                <a:cs typeface="Arial"/>
              </a:rPr>
              <a:t>TOTAL:</a:t>
            </a:r>
            <a:r>
              <a:rPr dirty="0" sz="1100" spc="-15">
                <a:solidFill>
                  <a:srgbClr val="162677"/>
                </a:solidFill>
                <a:latin typeface="Arial"/>
                <a:cs typeface="Arial"/>
              </a:rPr>
              <a:t> </a:t>
            </a:r>
            <a:r>
              <a:rPr dirty="0" sz="1100" spc="-35">
                <a:solidFill>
                  <a:srgbClr val="314B99"/>
                </a:solidFill>
                <a:latin typeface="Arial"/>
                <a:cs typeface="Arial"/>
              </a:rPr>
              <a:t>&lt;:5%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21687" y="3385398"/>
            <a:ext cx="364792" cy="210457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00431" y="2820671"/>
            <a:ext cx="438452" cy="385837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50272" y="2848733"/>
            <a:ext cx="392853" cy="333223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201022" y="413275"/>
            <a:ext cx="10313670" cy="6706234"/>
            <a:chOff x="201022" y="413275"/>
            <a:chExt cx="10313670" cy="6706234"/>
          </a:xfrm>
        </p:grpSpPr>
        <p:pic>
          <p:nvPicPr>
            <p:cNvPr id="6" name="object 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1022" y="438998"/>
              <a:ext cx="10301876" cy="536665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204179" y="413275"/>
              <a:ext cx="0" cy="6706234"/>
            </a:xfrm>
            <a:custGeom>
              <a:avLst/>
              <a:gdLst/>
              <a:ahLst/>
              <a:cxnLst/>
              <a:rect l="l" t="t" r="r" b="b"/>
              <a:pathLst>
                <a:path w="0" h="6706234">
                  <a:moveTo>
                    <a:pt x="0" y="670609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202659" y="7114814"/>
              <a:ext cx="10311765" cy="0"/>
            </a:xfrm>
            <a:custGeom>
              <a:avLst/>
              <a:gdLst/>
              <a:ahLst/>
              <a:cxnLst/>
              <a:rect l="l" t="t" r="r" b="b"/>
              <a:pathLst>
                <a:path w="10311765" h="0">
                  <a:moveTo>
                    <a:pt x="0" y="0"/>
                  </a:moveTo>
                  <a:lnTo>
                    <a:pt x="103114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202659" y="6792580"/>
              <a:ext cx="10311765" cy="0"/>
            </a:xfrm>
            <a:custGeom>
              <a:avLst/>
              <a:gdLst/>
              <a:ahLst/>
              <a:cxnLst/>
              <a:rect l="l" t="t" r="r" b="b"/>
              <a:pathLst>
                <a:path w="10311765" h="0">
                  <a:moveTo>
                    <a:pt x="0" y="0"/>
                  </a:moveTo>
                  <a:lnTo>
                    <a:pt x="103114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202659" y="983264"/>
              <a:ext cx="10311765" cy="0"/>
            </a:xfrm>
            <a:custGeom>
              <a:avLst/>
              <a:gdLst/>
              <a:ahLst/>
              <a:cxnLst/>
              <a:rect l="l" t="t" r="r" b="b"/>
              <a:pathLst>
                <a:path w="10311765" h="0">
                  <a:moveTo>
                    <a:pt x="0" y="0"/>
                  </a:moveTo>
                  <a:lnTo>
                    <a:pt x="103114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202659" y="433036"/>
              <a:ext cx="10311765" cy="0"/>
            </a:xfrm>
            <a:custGeom>
              <a:avLst/>
              <a:gdLst/>
              <a:ahLst/>
              <a:cxnLst/>
              <a:rect l="l" t="t" r="r" b="b"/>
              <a:pathLst>
                <a:path w="10311765" h="0">
                  <a:moveTo>
                    <a:pt x="0" y="0"/>
                  </a:moveTo>
                  <a:lnTo>
                    <a:pt x="103114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622310" y="4965580"/>
              <a:ext cx="7460615" cy="0"/>
            </a:xfrm>
            <a:custGeom>
              <a:avLst/>
              <a:gdLst/>
              <a:ahLst/>
              <a:cxnLst/>
              <a:rect l="l" t="t" r="r" b="b"/>
              <a:pathLst>
                <a:path w="7460615" h="0">
                  <a:moveTo>
                    <a:pt x="0" y="0"/>
                  </a:moveTo>
                  <a:lnTo>
                    <a:pt x="7460007" y="0"/>
                  </a:lnTo>
                </a:path>
              </a:pathLst>
            </a:custGeom>
            <a:ln w="9119">
              <a:solidFill>
                <a:srgbClr val="1F48D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625349" y="4953419"/>
              <a:ext cx="7451090" cy="0"/>
            </a:xfrm>
            <a:custGeom>
              <a:avLst/>
              <a:gdLst/>
              <a:ahLst/>
              <a:cxnLst/>
              <a:rect l="l" t="t" r="r" b="b"/>
              <a:pathLst>
                <a:path w="7451090" h="0">
                  <a:moveTo>
                    <a:pt x="0" y="0"/>
                  </a:moveTo>
                  <a:lnTo>
                    <a:pt x="7450888" y="0"/>
                  </a:lnTo>
                </a:path>
              </a:pathLst>
            </a:custGeom>
            <a:ln w="9119">
              <a:solidFill>
                <a:srgbClr val="1F48D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637510" y="4938220"/>
              <a:ext cx="7430134" cy="0"/>
            </a:xfrm>
            <a:custGeom>
              <a:avLst/>
              <a:gdLst/>
              <a:ahLst/>
              <a:cxnLst/>
              <a:rect l="l" t="t" r="r" b="b"/>
              <a:pathLst>
                <a:path w="7430134" h="0">
                  <a:moveTo>
                    <a:pt x="0" y="0"/>
                  </a:moveTo>
                  <a:lnTo>
                    <a:pt x="7429608" y="0"/>
                  </a:lnTo>
                </a:path>
              </a:pathLst>
            </a:custGeom>
            <a:ln w="9119">
              <a:solidFill>
                <a:srgbClr val="1F48D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658788" y="4923021"/>
              <a:ext cx="7387590" cy="0"/>
            </a:xfrm>
            <a:custGeom>
              <a:avLst/>
              <a:gdLst/>
              <a:ahLst/>
              <a:cxnLst/>
              <a:rect l="l" t="t" r="r" b="b"/>
              <a:pathLst>
                <a:path w="7387590" h="0">
                  <a:moveTo>
                    <a:pt x="0" y="0"/>
                  </a:moveTo>
                  <a:lnTo>
                    <a:pt x="7387049" y="0"/>
                  </a:lnTo>
                </a:path>
              </a:pathLst>
            </a:custGeom>
            <a:ln w="9119">
              <a:solidFill>
                <a:srgbClr val="1F48D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89383" y="3378382"/>
              <a:ext cx="389345" cy="231502"/>
            </a:xfrm>
            <a:prstGeom prst="rect">
              <a:avLst/>
            </a:prstGeom>
          </p:spPr>
        </p:pic>
      </p:grp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38320" rIns="0" bIns="0" rtlCol="0" vert="horz">
            <a:spAutoFit/>
          </a:bodyPr>
          <a:lstStyle/>
          <a:p>
            <a:pPr marL="14604">
              <a:lnSpc>
                <a:spcPct val="100000"/>
              </a:lnSpc>
              <a:spcBef>
                <a:spcPts val="90"/>
              </a:spcBef>
            </a:pPr>
            <a:r>
              <a:rPr dirty="0" sz="2800" spc="-135">
                <a:solidFill>
                  <a:srgbClr val="131313"/>
                </a:solidFill>
              </a:rPr>
              <a:t>Strategic</a:t>
            </a:r>
            <a:r>
              <a:rPr dirty="0" sz="2800" spc="-40">
                <a:solidFill>
                  <a:srgbClr val="131313"/>
                </a:solidFill>
              </a:rPr>
              <a:t> </a:t>
            </a:r>
            <a:r>
              <a:rPr dirty="0" sz="2800" spc="-145">
                <a:solidFill>
                  <a:srgbClr val="0F0F0F"/>
                </a:solidFill>
              </a:rPr>
              <a:t>Feature</a:t>
            </a:r>
            <a:r>
              <a:rPr dirty="0" sz="2800" spc="5">
                <a:solidFill>
                  <a:srgbClr val="0F0F0F"/>
                </a:solidFill>
              </a:rPr>
              <a:t> </a:t>
            </a:r>
            <a:r>
              <a:rPr dirty="0" sz="2800" spc="-130">
                <a:solidFill>
                  <a:srgbClr val="151515"/>
                </a:solidFill>
              </a:rPr>
              <a:t>Selection</a:t>
            </a:r>
            <a:endParaRPr sz="2800"/>
          </a:p>
        </p:txBody>
      </p:sp>
      <p:sp>
        <p:nvSpPr>
          <p:cNvPr id="18" name="object 18" descr=""/>
          <p:cNvSpPr txBox="1"/>
          <p:nvPr/>
        </p:nvSpPr>
        <p:spPr>
          <a:xfrm>
            <a:off x="1696255" y="3384779"/>
            <a:ext cx="1037590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>
                <a:solidFill>
                  <a:srgbClr val="233364"/>
                </a:solidFill>
                <a:latin typeface="Arial"/>
                <a:cs typeface="Arial"/>
              </a:rPr>
              <a:t>50+</a:t>
            </a:r>
            <a:r>
              <a:rPr dirty="0" sz="1400" spc="-90">
                <a:solidFill>
                  <a:srgbClr val="233364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182864"/>
                </a:solidFill>
                <a:latin typeface="Arial"/>
                <a:cs typeface="Arial"/>
              </a:rPr>
              <a:t>Features</a:t>
            </a:r>
            <a:endParaRPr sz="1400">
              <a:latin typeface="Arial"/>
              <a:cs typeface="Arial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1848462" y="3805109"/>
            <a:ext cx="73850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>
                <a:solidFill>
                  <a:srgbClr val="262626"/>
                </a:solidFill>
                <a:latin typeface="Arial"/>
                <a:cs typeface="Arial"/>
              </a:rPr>
              <a:t>Initial</a:t>
            </a:r>
            <a:r>
              <a:rPr dirty="0" sz="1100" spc="295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1100" spc="-20">
                <a:solidFill>
                  <a:srgbClr val="2B2B2B"/>
                </a:solidFill>
                <a:latin typeface="Arial"/>
                <a:cs typeface="Arial"/>
              </a:rPr>
              <a:t>Pool</a:t>
            </a:r>
            <a:endParaRPr sz="1100">
              <a:latin typeface="Arial"/>
              <a:cs typeface="Arial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4872814" y="3384779"/>
            <a:ext cx="933450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>
                <a:solidFill>
                  <a:srgbClr val="182A75"/>
                </a:solidFill>
                <a:latin typeface="Arial"/>
                <a:cs typeface="Arial"/>
              </a:rPr>
              <a:t>25</a:t>
            </a:r>
            <a:r>
              <a:rPr dirty="0" sz="1400" spc="-95">
                <a:solidFill>
                  <a:srgbClr val="182A75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1C2D5B"/>
                </a:solidFill>
                <a:latin typeface="Arial"/>
                <a:cs typeface="Arial"/>
              </a:rPr>
              <a:t>Features</a:t>
            </a:r>
            <a:endParaRPr sz="1400">
              <a:latin typeface="Arial"/>
              <a:cs typeface="Arial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5045052" y="3805109"/>
            <a:ext cx="59055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110">
                <a:solidFill>
                  <a:srgbClr val="282828"/>
                </a:solidFill>
                <a:latin typeface="Arial Black"/>
                <a:cs typeface="Arial Black"/>
              </a:rPr>
              <a:t>Selected</a:t>
            </a:r>
            <a:endParaRPr sz="1100">
              <a:latin typeface="Arial Black"/>
              <a:cs typeface="Arial Black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8189210" y="3410111"/>
            <a:ext cx="531495" cy="20827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200" spc="45">
                <a:solidFill>
                  <a:srgbClr val="42549E"/>
                </a:solidFill>
                <a:latin typeface="Arial"/>
                <a:cs typeface="Arial"/>
              </a:rPr>
              <a:t>85.3</a:t>
            </a:r>
            <a:r>
              <a:rPr dirty="0" baseline="20833" sz="1800" spc="67">
                <a:solidFill>
                  <a:srgbClr val="42549E"/>
                </a:solidFill>
                <a:latin typeface="Arial"/>
                <a:cs typeface="Arial"/>
              </a:rPr>
              <a:t>O</a:t>
            </a:r>
            <a:endParaRPr baseline="20833" sz="1800">
              <a:latin typeface="Arial"/>
              <a:cs typeface="Arial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7891508" y="3805109"/>
            <a:ext cx="114300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125">
                <a:solidFill>
                  <a:srgbClr val="2A2A2A"/>
                </a:solidFill>
                <a:latin typeface="Arial Black"/>
                <a:cs typeface="Arial Black"/>
              </a:rPr>
              <a:t>Power</a:t>
            </a:r>
            <a:r>
              <a:rPr dirty="0" sz="1100" spc="35">
                <a:solidFill>
                  <a:srgbClr val="2A2A2A"/>
                </a:solidFill>
                <a:latin typeface="Arial Black"/>
                <a:cs typeface="Arial Black"/>
              </a:rPr>
              <a:t> </a:t>
            </a:r>
            <a:r>
              <a:rPr dirty="0" sz="1100" spc="-95">
                <a:solidFill>
                  <a:srgbClr val="2A2A2A"/>
                </a:solidFill>
                <a:latin typeface="Arial Black"/>
                <a:cs typeface="Arial Black"/>
              </a:rPr>
              <a:t>Preserved</a:t>
            </a:r>
            <a:endParaRPr sz="1100">
              <a:latin typeface="Arial Black"/>
              <a:cs typeface="Arial Black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2071644" y="5079056"/>
            <a:ext cx="6529070" cy="671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738630" marR="30480" indent="-1701164">
              <a:lnSpc>
                <a:spcPct val="146000"/>
              </a:lnSpc>
              <a:spcBef>
                <a:spcPts val="100"/>
              </a:spcBef>
            </a:pPr>
            <a:r>
              <a:rPr dirty="0" sz="1450">
                <a:solidFill>
                  <a:srgbClr val="1A2D70"/>
                </a:solidFill>
                <a:latin typeface="Arial"/>
                <a:cs typeface="Arial"/>
              </a:rPr>
              <a:t>Key</a:t>
            </a:r>
            <a:r>
              <a:rPr dirty="0" sz="1450" spc="-100">
                <a:solidFill>
                  <a:srgbClr val="1A2D70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2F4482"/>
                </a:solidFill>
                <a:latin typeface="Arial"/>
                <a:cs typeface="Arial"/>
              </a:rPr>
              <a:t>Metrics:</a:t>
            </a:r>
            <a:r>
              <a:rPr dirty="0" sz="1450" spc="-65">
                <a:solidFill>
                  <a:srgbClr val="2F4482"/>
                </a:solidFill>
                <a:latin typeface="Arial"/>
                <a:cs typeface="Arial"/>
              </a:rPr>
              <a:t> </a:t>
            </a:r>
            <a:r>
              <a:rPr dirty="0" sz="1450" spc="-85">
                <a:solidFill>
                  <a:srgbClr val="11236B"/>
                </a:solidFill>
                <a:latin typeface="Arial"/>
                <a:cs typeface="Arial"/>
              </a:rPr>
              <a:t>SO</a:t>
            </a:r>
            <a:r>
              <a:rPr dirty="0" baseline="35714" sz="1050" spc="-127">
                <a:solidFill>
                  <a:srgbClr val="11236B"/>
                </a:solidFill>
                <a:latin typeface="Arial"/>
                <a:cs typeface="Arial"/>
              </a:rPr>
              <a:t>O</a:t>
            </a:r>
            <a:r>
              <a:rPr dirty="0" baseline="35714" sz="1050" spc="375">
                <a:solidFill>
                  <a:srgbClr val="11236B"/>
                </a:solidFill>
                <a:latin typeface="Arial"/>
                <a:cs typeface="Arial"/>
              </a:rPr>
              <a:t>  </a:t>
            </a:r>
            <a:r>
              <a:rPr dirty="0" sz="1450">
                <a:solidFill>
                  <a:srgbClr val="15266B"/>
                </a:solidFill>
                <a:latin typeface="Arial"/>
                <a:cs typeface="Arial"/>
              </a:rPr>
              <a:t>complexity</a:t>
            </a:r>
            <a:r>
              <a:rPr dirty="0" sz="1450" spc="55">
                <a:solidFill>
                  <a:srgbClr val="15266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15267E"/>
                </a:solidFill>
                <a:latin typeface="Arial"/>
                <a:cs typeface="Arial"/>
              </a:rPr>
              <a:t>reduction</a:t>
            </a:r>
            <a:r>
              <a:rPr dirty="0" sz="1450" spc="-30">
                <a:solidFill>
                  <a:srgbClr val="15267E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182877"/>
                </a:solidFill>
                <a:latin typeface="Arial"/>
                <a:cs typeface="Arial"/>
              </a:rPr>
              <a:t>I</a:t>
            </a:r>
            <a:r>
              <a:rPr dirty="0" sz="1450" spc="-30">
                <a:solidFill>
                  <a:srgbClr val="182877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162B60"/>
                </a:solidFill>
                <a:latin typeface="Arial"/>
                <a:cs typeface="Arial"/>
              </a:rPr>
              <a:t>Eliminated</a:t>
            </a:r>
            <a:r>
              <a:rPr dirty="0" sz="1450" spc="30">
                <a:solidFill>
                  <a:srgbClr val="162B60"/>
                </a:solidFill>
                <a:latin typeface="Arial"/>
                <a:cs typeface="Arial"/>
              </a:rPr>
              <a:t> </a:t>
            </a:r>
            <a:r>
              <a:rPr dirty="0" sz="1450" spc="-60">
                <a:solidFill>
                  <a:srgbClr val="132875"/>
                </a:solidFill>
                <a:latin typeface="Arial"/>
                <a:cs typeface="Arial"/>
              </a:rPr>
              <a:t>25</a:t>
            </a:r>
            <a:r>
              <a:rPr dirty="0" sz="1450" spc="-40">
                <a:solidFill>
                  <a:srgbClr val="132875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162874"/>
                </a:solidFill>
                <a:latin typeface="Arial"/>
                <a:cs typeface="Arial"/>
              </a:rPr>
              <a:t>features</a:t>
            </a:r>
            <a:r>
              <a:rPr dirty="0" sz="1450" spc="-5">
                <a:solidFill>
                  <a:srgbClr val="162874"/>
                </a:solidFill>
                <a:latin typeface="Arial"/>
                <a:cs typeface="Arial"/>
              </a:rPr>
              <a:t> </a:t>
            </a:r>
            <a:r>
              <a:rPr dirty="0" sz="1450" spc="-55">
                <a:solidFill>
                  <a:srgbClr val="182864"/>
                </a:solidFill>
                <a:latin typeface="Arial"/>
                <a:cs typeface="Arial"/>
              </a:rPr>
              <a:t>(14.7%</a:t>
            </a:r>
            <a:r>
              <a:rPr dirty="0" sz="1450" spc="-45">
                <a:solidFill>
                  <a:srgbClr val="182864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1F2879"/>
                </a:solidFill>
                <a:latin typeface="Arial"/>
                <a:cs typeface="Arial"/>
              </a:rPr>
              <a:t>power)</a:t>
            </a:r>
            <a:r>
              <a:rPr dirty="0" sz="1450" spc="-90">
                <a:solidFill>
                  <a:srgbClr val="1F2879"/>
                </a:solidFill>
                <a:latin typeface="Arial"/>
                <a:cs typeface="Arial"/>
              </a:rPr>
              <a:t> </a:t>
            </a:r>
            <a:r>
              <a:rPr dirty="0" sz="1450" spc="-50">
                <a:solidFill>
                  <a:srgbClr val="182879"/>
                </a:solidFill>
                <a:latin typeface="Arial"/>
                <a:cs typeface="Arial"/>
              </a:rPr>
              <a:t>I </a:t>
            </a:r>
            <a:r>
              <a:rPr dirty="0" sz="1450" spc="-10">
                <a:solidFill>
                  <a:srgbClr val="1C2F75"/>
                </a:solidFill>
                <a:latin typeface="Arial"/>
                <a:cs typeface="Arial"/>
              </a:rPr>
              <a:t>Maintained</a:t>
            </a:r>
            <a:r>
              <a:rPr dirty="0" sz="1450" spc="-65">
                <a:solidFill>
                  <a:srgbClr val="1C2F75"/>
                </a:solidFill>
                <a:latin typeface="Arial"/>
                <a:cs typeface="Arial"/>
              </a:rPr>
              <a:t> </a:t>
            </a:r>
            <a:r>
              <a:rPr dirty="0" sz="1450" spc="-60">
                <a:solidFill>
                  <a:srgbClr val="13287C"/>
                </a:solidFill>
                <a:latin typeface="Arial"/>
                <a:cs typeface="Arial"/>
              </a:rPr>
              <a:t>25</a:t>
            </a:r>
            <a:r>
              <a:rPr dirty="0" sz="1450" spc="-40">
                <a:solidFill>
                  <a:srgbClr val="13287C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0E1F64"/>
                </a:solidFill>
                <a:latin typeface="Arial"/>
                <a:cs typeface="Arial"/>
              </a:rPr>
              <a:t>features</a:t>
            </a:r>
            <a:r>
              <a:rPr dirty="0" sz="1450" spc="-55">
                <a:solidFill>
                  <a:srgbClr val="0E1F64"/>
                </a:solidFill>
                <a:latin typeface="Arial"/>
                <a:cs typeface="Arial"/>
              </a:rPr>
              <a:t> </a:t>
            </a:r>
            <a:r>
              <a:rPr dirty="0" sz="1450" spc="-55">
                <a:solidFill>
                  <a:srgbClr val="1A2F6E"/>
                </a:solidFill>
                <a:latin typeface="Arial"/>
                <a:cs typeface="Arial"/>
              </a:rPr>
              <a:t>(85.3%</a:t>
            </a:r>
            <a:r>
              <a:rPr dirty="0" sz="1450" spc="-45">
                <a:solidFill>
                  <a:srgbClr val="1A2F6E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162A77"/>
                </a:solidFill>
                <a:latin typeface="Arial"/>
                <a:cs typeface="Arial"/>
              </a:rPr>
              <a:t>power)</a:t>
            </a:r>
            <a:endParaRPr sz="14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6576" y="2291021"/>
            <a:ext cx="501589" cy="406883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17982" y="2298037"/>
            <a:ext cx="431437" cy="389345"/>
          </a:xfrm>
          <a:prstGeom prst="rect">
            <a:avLst/>
          </a:prstGeom>
        </p:spPr>
      </p:pic>
      <p:grpSp>
        <p:nvGrpSpPr>
          <p:cNvPr id="4" name="object 4" descr=""/>
          <p:cNvGrpSpPr/>
          <p:nvPr/>
        </p:nvGrpSpPr>
        <p:grpSpPr>
          <a:xfrm>
            <a:off x="201022" y="413275"/>
            <a:ext cx="10313670" cy="6706234"/>
            <a:chOff x="201022" y="413275"/>
            <a:chExt cx="10313670" cy="6706234"/>
          </a:xfrm>
        </p:grpSpPr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1022" y="438998"/>
              <a:ext cx="10301876" cy="536665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204179" y="413275"/>
              <a:ext cx="0" cy="6706234"/>
            </a:xfrm>
            <a:custGeom>
              <a:avLst/>
              <a:gdLst/>
              <a:ahLst/>
              <a:cxnLst/>
              <a:rect l="l" t="t" r="r" b="b"/>
              <a:pathLst>
                <a:path w="0" h="6706234">
                  <a:moveTo>
                    <a:pt x="0" y="670609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202659" y="7114814"/>
              <a:ext cx="10311765" cy="0"/>
            </a:xfrm>
            <a:custGeom>
              <a:avLst/>
              <a:gdLst/>
              <a:ahLst/>
              <a:cxnLst/>
              <a:rect l="l" t="t" r="r" b="b"/>
              <a:pathLst>
                <a:path w="10311765" h="0">
                  <a:moveTo>
                    <a:pt x="0" y="0"/>
                  </a:moveTo>
                  <a:lnTo>
                    <a:pt x="103114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202659" y="6792580"/>
              <a:ext cx="10311765" cy="0"/>
            </a:xfrm>
            <a:custGeom>
              <a:avLst/>
              <a:gdLst/>
              <a:ahLst/>
              <a:cxnLst/>
              <a:rect l="l" t="t" r="r" b="b"/>
              <a:pathLst>
                <a:path w="10311765" h="0">
                  <a:moveTo>
                    <a:pt x="0" y="0"/>
                  </a:moveTo>
                  <a:lnTo>
                    <a:pt x="103114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202659" y="983264"/>
              <a:ext cx="10311765" cy="0"/>
            </a:xfrm>
            <a:custGeom>
              <a:avLst/>
              <a:gdLst/>
              <a:ahLst/>
              <a:cxnLst/>
              <a:rect l="l" t="t" r="r" b="b"/>
              <a:pathLst>
                <a:path w="10311765" h="0">
                  <a:moveTo>
                    <a:pt x="0" y="0"/>
                  </a:moveTo>
                  <a:lnTo>
                    <a:pt x="103114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202659" y="433036"/>
              <a:ext cx="10311765" cy="0"/>
            </a:xfrm>
            <a:custGeom>
              <a:avLst/>
              <a:gdLst/>
              <a:ahLst/>
              <a:cxnLst/>
              <a:rect l="l" t="t" r="r" b="b"/>
              <a:pathLst>
                <a:path w="10311765" h="0">
                  <a:moveTo>
                    <a:pt x="0" y="0"/>
                  </a:moveTo>
                  <a:lnTo>
                    <a:pt x="103114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74551" y="4704262"/>
              <a:ext cx="9291683" cy="1845006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2468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700" spc="-100">
                <a:solidFill>
                  <a:srgbClr val="131313"/>
                </a:solidFill>
              </a:rPr>
              <a:t>Model</a:t>
            </a:r>
            <a:r>
              <a:rPr dirty="0" sz="2700" spc="-90">
                <a:solidFill>
                  <a:srgbClr val="131313"/>
                </a:solidFill>
              </a:rPr>
              <a:t> </a:t>
            </a:r>
            <a:r>
              <a:rPr dirty="0" sz="2700" spc="-80">
                <a:solidFill>
                  <a:srgbClr val="0A0A0A"/>
                </a:solidFill>
              </a:rPr>
              <a:t>Generalization:</a:t>
            </a:r>
            <a:r>
              <a:rPr dirty="0" sz="2700" spc="-140">
                <a:solidFill>
                  <a:srgbClr val="0A0A0A"/>
                </a:solidFill>
              </a:rPr>
              <a:t> </a:t>
            </a:r>
            <a:r>
              <a:rPr dirty="0" sz="2700" spc="-75">
                <a:solidFill>
                  <a:srgbClr val="0C0C0C"/>
                </a:solidFill>
              </a:rPr>
              <a:t>From</a:t>
            </a:r>
            <a:r>
              <a:rPr dirty="0" sz="2700" spc="-110">
                <a:solidFill>
                  <a:srgbClr val="0C0C0C"/>
                </a:solidFill>
              </a:rPr>
              <a:t> Validation</a:t>
            </a:r>
            <a:r>
              <a:rPr dirty="0" sz="2700" spc="25">
                <a:solidFill>
                  <a:srgbClr val="0C0C0C"/>
                </a:solidFill>
              </a:rPr>
              <a:t> </a:t>
            </a:r>
            <a:r>
              <a:rPr dirty="0" sz="2700">
                <a:solidFill>
                  <a:srgbClr val="151515"/>
                </a:solidFill>
              </a:rPr>
              <a:t>to</a:t>
            </a:r>
            <a:r>
              <a:rPr dirty="0" sz="2700" spc="-150">
                <a:solidFill>
                  <a:srgbClr val="151515"/>
                </a:solidFill>
              </a:rPr>
              <a:t> </a:t>
            </a:r>
            <a:r>
              <a:rPr dirty="0" sz="2700" spc="-130">
                <a:solidFill>
                  <a:srgbClr val="0C0C0C"/>
                </a:solidFill>
              </a:rPr>
              <a:t>Real-</a:t>
            </a:r>
            <a:r>
              <a:rPr dirty="0" sz="2700" spc="-10">
                <a:solidFill>
                  <a:srgbClr val="0C0C0C"/>
                </a:solidFill>
              </a:rPr>
              <a:t>World</a:t>
            </a:r>
            <a:endParaRPr sz="2700"/>
          </a:p>
        </p:txBody>
      </p:sp>
      <p:sp>
        <p:nvSpPr>
          <p:cNvPr id="13" name="object 13" descr=""/>
          <p:cNvSpPr txBox="1"/>
          <p:nvPr/>
        </p:nvSpPr>
        <p:spPr>
          <a:xfrm>
            <a:off x="906938" y="2868380"/>
            <a:ext cx="1635125" cy="6057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9050">
              <a:lnSpc>
                <a:spcPct val="100000"/>
              </a:lnSpc>
              <a:spcBef>
                <a:spcPts val="95"/>
              </a:spcBef>
            </a:pPr>
            <a:r>
              <a:rPr dirty="0" sz="1600" spc="-80">
                <a:solidFill>
                  <a:srgbClr val="182374"/>
                </a:solidFill>
                <a:latin typeface="Arial"/>
                <a:cs typeface="Arial"/>
              </a:rPr>
              <a:t>VALIDATION:</a:t>
            </a:r>
            <a:r>
              <a:rPr dirty="0" sz="1600" spc="-35">
                <a:solidFill>
                  <a:srgbClr val="182374"/>
                </a:solidFill>
                <a:latin typeface="Arial"/>
                <a:cs typeface="Arial"/>
              </a:rPr>
              <a:t> </a:t>
            </a:r>
            <a:r>
              <a:rPr dirty="0" sz="1600" spc="-20">
                <a:solidFill>
                  <a:srgbClr val="161F5B"/>
                </a:solidFill>
                <a:latin typeface="Arial"/>
                <a:cs typeface="Arial"/>
              </a:rPr>
              <a:t>0.47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15"/>
              </a:spcBef>
            </a:pPr>
            <a:r>
              <a:rPr dirty="0" sz="1200">
                <a:solidFill>
                  <a:srgbClr val="339C49"/>
                </a:solidFill>
                <a:latin typeface="Arial"/>
                <a:cs typeface="Arial"/>
              </a:rPr>
              <a:t>w</a:t>
            </a:r>
            <a:r>
              <a:rPr dirty="0" sz="1200" spc="425">
                <a:solidFill>
                  <a:srgbClr val="339C49"/>
                </a:solidFill>
                <a:latin typeface="Arial"/>
                <a:cs typeface="Arial"/>
              </a:rPr>
              <a:t> </a:t>
            </a:r>
            <a:r>
              <a:rPr dirty="0" sz="1200" spc="-50">
                <a:solidFill>
                  <a:srgbClr val="2D2D2D"/>
                </a:solidFill>
                <a:latin typeface="Arial"/>
                <a:cs typeface="Arial"/>
              </a:rPr>
              <a:t>All </a:t>
            </a:r>
            <a:r>
              <a:rPr dirty="0" sz="1200" spc="-10">
                <a:solidFill>
                  <a:srgbClr val="2A2A2A"/>
                </a:solidFill>
                <a:latin typeface="Arial"/>
                <a:cs typeface="Arial"/>
              </a:rPr>
              <a:t>patterns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910464" y="3588319"/>
            <a:ext cx="695960" cy="2006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50">
                <a:solidFill>
                  <a:srgbClr val="3BA55B"/>
                </a:solidFill>
                <a:latin typeface="Arial"/>
                <a:cs typeface="Arial"/>
              </a:rPr>
              <a:t>w</a:t>
            </a:r>
            <a:r>
              <a:rPr dirty="0" sz="1150" spc="434">
                <a:solidFill>
                  <a:srgbClr val="3BA55B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232323"/>
                </a:solidFill>
                <a:latin typeface="Arial"/>
                <a:cs typeface="Arial"/>
              </a:rPr>
              <a:t>All</a:t>
            </a:r>
            <a:r>
              <a:rPr dirty="0" sz="1150" spc="-40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1150" spc="-20">
                <a:solidFill>
                  <a:srgbClr val="282828"/>
                </a:solidFill>
                <a:latin typeface="Arial"/>
                <a:cs typeface="Arial"/>
              </a:rPr>
              <a:t>data</a:t>
            </a:r>
            <a:endParaRPr sz="1150">
              <a:latin typeface="Arial"/>
              <a:cs typeface="Arial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4107182" y="2864872"/>
            <a:ext cx="1599565" cy="5137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5240">
              <a:lnSpc>
                <a:spcPts val="1864"/>
              </a:lnSpc>
              <a:spcBef>
                <a:spcPts val="95"/>
              </a:spcBef>
            </a:pPr>
            <a:r>
              <a:rPr dirty="0" sz="1600" spc="-60">
                <a:solidFill>
                  <a:srgbClr val="132372"/>
                </a:solidFill>
                <a:latin typeface="Arial"/>
                <a:cs typeface="Arial"/>
              </a:rPr>
              <a:t>AFTER</a:t>
            </a:r>
            <a:r>
              <a:rPr dirty="0" sz="1600" spc="-40">
                <a:solidFill>
                  <a:srgbClr val="132372"/>
                </a:solidFill>
                <a:latin typeface="Arial"/>
                <a:cs typeface="Arial"/>
              </a:rPr>
              <a:t> </a:t>
            </a:r>
            <a:r>
              <a:rPr dirty="0" sz="1600" spc="-60">
                <a:solidFill>
                  <a:srgbClr val="1D2667"/>
                </a:solidFill>
                <a:latin typeface="Arial"/>
                <a:cs typeface="Arial"/>
              </a:rPr>
              <a:t>FEATURE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ts val="1985"/>
              </a:lnSpc>
            </a:pPr>
            <a:r>
              <a:rPr dirty="0" sz="1700" spc="-135">
                <a:solidFill>
                  <a:srgbClr val="1C2D6B"/>
                </a:solidFill>
                <a:latin typeface="Arial"/>
                <a:cs typeface="Arial"/>
              </a:rPr>
              <a:t>SELECTION:</a:t>
            </a:r>
            <a:r>
              <a:rPr dirty="0" sz="1700" spc="80">
                <a:solidFill>
                  <a:srgbClr val="1C2D6B"/>
                </a:solidFill>
                <a:latin typeface="Arial"/>
                <a:cs typeface="Arial"/>
              </a:rPr>
              <a:t> </a:t>
            </a:r>
            <a:r>
              <a:rPr dirty="0" sz="1700" spc="-60">
                <a:solidFill>
                  <a:srgbClr val="1F2A79"/>
                </a:solidFill>
                <a:latin typeface="Arial"/>
                <a:cs typeface="Arial"/>
              </a:rPr>
              <a:t>0.61</a:t>
            </a:r>
            <a:endParaRPr sz="1700">
              <a:latin typeface="Arial"/>
              <a:cs typeface="Arial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4098094" y="3553925"/>
            <a:ext cx="1424940" cy="20827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>
                <a:solidFill>
                  <a:srgbClr val="E9A116"/>
                </a:solidFill>
                <a:latin typeface="Arial"/>
                <a:cs typeface="Arial"/>
              </a:rPr>
              <a:t>@</a:t>
            </a:r>
            <a:r>
              <a:rPr dirty="0" sz="1200" spc="60">
                <a:solidFill>
                  <a:srgbClr val="E9A116"/>
                </a:solidFill>
                <a:latin typeface="Arial"/>
                <a:cs typeface="Arial"/>
              </a:rPr>
              <a:t> </a:t>
            </a:r>
            <a:r>
              <a:rPr dirty="0" sz="1200" spc="-60">
                <a:solidFill>
                  <a:srgbClr val="2B2B2B"/>
                </a:solidFill>
                <a:latin typeface="Arial"/>
                <a:cs typeface="Arial"/>
              </a:rPr>
              <a:t>Reduced</a:t>
            </a:r>
            <a:r>
              <a:rPr dirty="0" sz="1200" spc="5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dirty="0" sz="1200" spc="-45">
                <a:solidFill>
                  <a:srgbClr val="2B2B2B"/>
                </a:solidFill>
                <a:latin typeface="Arial"/>
                <a:cs typeface="Arial"/>
              </a:rPr>
              <a:t>overfitting</a:t>
            </a:r>
            <a:endParaRPr sz="1200">
              <a:latin typeface="Arial"/>
              <a:cs typeface="Arial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4303262" y="3771397"/>
            <a:ext cx="1849120" cy="579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270">
              <a:lnSpc>
                <a:spcPct val="151500"/>
              </a:lnSpc>
              <a:spcBef>
                <a:spcPts val="100"/>
              </a:spcBef>
            </a:pPr>
            <a:r>
              <a:rPr dirty="0" sz="1200" spc="-55">
                <a:solidFill>
                  <a:srgbClr val="2A2A2A"/>
                </a:solidFill>
                <a:latin typeface="Arial"/>
                <a:cs typeface="Arial"/>
              </a:rPr>
              <a:t>Preserved</a:t>
            </a:r>
            <a:r>
              <a:rPr dirty="0" sz="1200" spc="-1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dirty="0" sz="1200" spc="-60">
                <a:solidFill>
                  <a:srgbClr val="2D2D2D"/>
                </a:solidFill>
                <a:latin typeface="Arial"/>
                <a:cs typeface="Arial"/>
              </a:rPr>
              <a:t>85.3% </a:t>
            </a:r>
            <a:r>
              <a:rPr dirty="0" sz="1200" spc="-55">
                <a:solidFill>
                  <a:srgbClr val="242424"/>
                </a:solidFill>
                <a:latin typeface="Arial"/>
                <a:cs typeface="Arial"/>
              </a:rPr>
              <a:t>behavioural </a:t>
            </a:r>
            <a:r>
              <a:rPr dirty="0" sz="1200" spc="-10">
                <a:solidFill>
                  <a:srgbClr val="2D2D2D"/>
                </a:solidFill>
                <a:latin typeface="Arial"/>
                <a:cs typeface="Arial"/>
              </a:rPr>
              <a:t>power</a:t>
            </a:r>
            <a:endParaRPr sz="1200">
              <a:latin typeface="Arial"/>
              <a:cs typeface="Arial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7300032" y="2855714"/>
            <a:ext cx="1304290" cy="6210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700" spc="-140">
                <a:solidFill>
                  <a:srgbClr val="16246E"/>
                </a:solidFill>
                <a:latin typeface="Arial"/>
                <a:cs typeface="Arial"/>
              </a:rPr>
              <a:t>KAGGLE:</a:t>
            </a:r>
            <a:r>
              <a:rPr dirty="0" sz="1700" spc="55">
                <a:solidFill>
                  <a:srgbClr val="16246E"/>
                </a:solidFill>
                <a:latin typeface="Arial"/>
                <a:cs typeface="Arial"/>
              </a:rPr>
              <a:t> </a:t>
            </a:r>
            <a:r>
              <a:rPr dirty="0" sz="1700" spc="-70">
                <a:solidFill>
                  <a:srgbClr val="1F2D7B"/>
                </a:solidFill>
                <a:latin typeface="Arial"/>
                <a:cs typeface="Arial"/>
              </a:rPr>
              <a:t>0.72</a:t>
            </a:r>
            <a:endParaRPr sz="1700">
              <a:latin typeface="Arial"/>
              <a:cs typeface="Arial"/>
            </a:endParaRPr>
          </a:p>
          <a:p>
            <a:pPr marL="213995">
              <a:lnSpc>
                <a:spcPct val="100000"/>
              </a:lnSpc>
              <a:spcBef>
                <a:spcPts val="1270"/>
              </a:spcBef>
            </a:pPr>
            <a:r>
              <a:rPr dirty="0" sz="1150" spc="-10">
                <a:solidFill>
                  <a:srgbClr val="1F1F1F"/>
                </a:solidFill>
                <a:latin typeface="Arial"/>
                <a:cs typeface="Arial"/>
              </a:rPr>
              <a:t>Market</a:t>
            </a:r>
            <a:endParaRPr sz="1150">
              <a:latin typeface="Arial"/>
              <a:cs typeface="Arial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7496292" y="3572827"/>
            <a:ext cx="97155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105">
                <a:solidFill>
                  <a:srgbClr val="2D2D2D"/>
                </a:solidFill>
                <a:latin typeface="Arial"/>
                <a:cs typeface="Arial"/>
              </a:rPr>
              <a:t>@fIf}&amp;t&amp;I</a:t>
            </a:r>
            <a:r>
              <a:rPr dirty="0" sz="1300" spc="55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dirty="0" sz="1300" spc="-85">
                <a:solidFill>
                  <a:srgbClr val="2B2B2B"/>
                </a:solidFill>
                <a:latin typeface="Arial"/>
                <a:cs typeface="Arial"/>
              </a:rPr>
              <a:t>noise</a:t>
            </a:r>
            <a:endParaRPr sz="1300">
              <a:latin typeface="Arial"/>
              <a:cs typeface="Arial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940259" y="4919752"/>
            <a:ext cx="8424545" cy="12484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160">
                <a:solidFill>
                  <a:srgbClr val="1A2A77"/>
                </a:solidFill>
                <a:latin typeface="Arial Black"/>
                <a:cs typeface="Arial Black"/>
              </a:rPr>
              <a:t>STRATEGIC</a:t>
            </a:r>
            <a:r>
              <a:rPr dirty="0" sz="1300" spc="75">
                <a:solidFill>
                  <a:srgbClr val="1A2A77"/>
                </a:solidFill>
                <a:latin typeface="Arial Black"/>
                <a:cs typeface="Arial Black"/>
              </a:rPr>
              <a:t> </a:t>
            </a:r>
            <a:r>
              <a:rPr dirty="0" sz="1300" spc="-130">
                <a:solidFill>
                  <a:srgbClr val="16287E"/>
                </a:solidFill>
                <a:latin typeface="Arial Black"/>
                <a:cs typeface="Arial Black"/>
              </a:rPr>
              <a:t>DECISION:</a:t>
            </a:r>
            <a:r>
              <a:rPr dirty="0" sz="1300" spc="75">
                <a:solidFill>
                  <a:srgbClr val="16287E"/>
                </a:solidFill>
                <a:latin typeface="Arial Black"/>
                <a:cs typeface="Arial Black"/>
              </a:rPr>
              <a:t> </a:t>
            </a:r>
            <a:r>
              <a:rPr dirty="0" sz="1300" spc="-160">
                <a:solidFill>
                  <a:srgbClr val="233380"/>
                </a:solidFill>
                <a:latin typeface="Arial Black"/>
                <a:cs typeface="Arial Black"/>
              </a:rPr>
              <a:t>Accepted</a:t>
            </a:r>
            <a:r>
              <a:rPr dirty="0" sz="1300" spc="75">
                <a:solidFill>
                  <a:srgbClr val="233380"/>
                </a:solidFill>
                <a:latin typeface="Arial Black"/>
                <a:cs typeface="Arial Black"/>
              </a:rPr>
              <a:t> </a:t>
            </a:r>
            <a:r>
              <a:rPr dirty="0" sz="1300" spc="-185">
                <a:solidFill>
                  <a:srgbClr val="152872"/>
                </a:solidFill>
                <a:latin typeface="Arial Black"/>
                <a:cs typeface="Arial Black"/>
              </a:rPr>
              <a:t>0.11</a:t>
            </a:r>
            <a:r>
              <a:rPr dirty="0" sz="1300" spc="40">
                <a:solidFill>
                  <a:srgbClr val="152872"/>
                </a:solidFill>
                <a:latin typeface="Arial Black"/>
                <a:cs typeface="Arial Black"/>
              </a:rPr>
              <a:t> </a:t>
            </a:r>
            <a:r>
              <a:rPr dirty="0" sz="1300" spc="-130">
                <a:solidFill>
                  <a:srgbClr val="131D72"/>
                </a:solidFill>
                <a:latin typeface="Arial Black"/>
                <a:cs typeface="Arial Black"/>
              </a:rPr>
              <a:t>additional</a:t>
            </a:r>
            <a:r>
              <a:rPr dirty="0" sz="1300" spc="95">
                <a:solidFill>
                  <a:srgbClr val="131D72"/>
                </a:solidFill>
                <a:latin typeface="Arial Black"/>
                <a:cs typeface="Arial Black"/>
              </a:rPr>
              <a:t> </a:t>
            </a:r>
            <a:r>
              <a:rPr dirty="0" sz="1300" spc="-150">
                <a:solidFill>
                  <a:srgbClr val="0F2870"/>
                </a:solidFill>
                <a:latin typeface="Arial Black"/>
                <a:cs typeface="Arial Black"/>
              </a:rPr>
              <a:t>gap</a:t>
            </a:r>
            <a:r>
              <a:rPr dirty="0" sz="1300" spc="-10">
                <a:solidFill>
                  <a:srgbClr val="0F2870"/>
                </a:solidFill>
                <a:latin typeface="Arial Black"/>
                <a:cs typeface="Arial Black"/>
              </a:rPr>
              <a:t> </a:t>
            </a:r>
            <a:r>
              <a:rPr dirty="0" sz="1300" spc="-220">
                <a:solidFill>
                  <a:srgbClr val="1A2A77"/>
                </a:solidFill>
                <a:latin typeface="Arial Black"/>
                <a:cs typeface="Arial Black"/>
              </a:rPr>
              <a:t>(0.61—</a:t>
            </a:r>
            <a:r>
              <a:rPr dirty="0" sz="1300" spc="-200">
                <a:solidFill>
                  <a:srgbClr val="1A2A77"/>
                </a:solidFill>
                <a:latin typeface="Arial Black"/>
                <a:cs typeface="Arial Black"/>
              </a:rPr>
              <a:t>+0.72)</a:t>
            </a:r>
            <a:r>
              <a:rPr dirty="0" sz="1300" spc="80">
                <a:solidFill>
                  <a:srgbClr val="1A2A77"/>
                </a:solidFill>
                <a:latin typeface="Arial Black"/>
                <a:cs typeface="Arial Black"/>
              </a:rPr>
              <a:t> </a:t>
            </a:r>
            <a:r>
              <a:rPr dirty="0" sz="1300" spc="-120">
                <a:solidFill>
                  <a:srgbClr val="1C2B70"/>
                </a:solidFill>
                <a:latin typeface="Arial Black"/>
                <a:cs typeface="Arial Black"/>
              </a:rPr>
              <a:t>to</a:t>
            </a:r>
            <a:r>
              <a:rPr dirty="0" sz="1300" spc="-10">
                <a:solidFill>
                  <a:srgbClr val="1C2B70"/>
                </a:solidFill>
                <a:latin typeface="Arial Black"/>
                <a:cs typeface="Arial Black"/>
              </a:rPr>
              <a:t> </a:t>
            </a:r>
            <a:r>
              <a:rPr dirty="0" sz="1300" spc="-140">
                <a:solidFill>
                  <a:srgbClr val="16266D"/>
                </a:solidFill>
                <a:latin typeface="Arial Black"/>
                <a:cs typeface="Arial Black"/>
              </a:rPr>
              <a:t>avoid</a:t>
            </a:r>
            <a:r>
              <a:rPr dirty="0" sz="1300" spc="15">
                <a:solidFill>
                  <a:srgbClr val="16266D"/>
                </a:solidFill>
                <a:latin typeface="Arial Black"/>
                <a:cs typeface="Arial Black"/>
              </a:rPr>
              <a:t> </a:t>
            </a:r>
            <a:r>
              <a:rPr dirty="0" sz="1300" spc="-170">
                <a:solidFill>
                  <a:srgbClr val="1C287C"/>
                </a:solidFill>
                <a:latin typeface="Arial Black"/>
                <a:cs typeface="Arial Black"/>
              </a:rPr>
              <a:t>extreme</a:t>
            </a:r>
            <a:r>
              <a:rPr dirty="0" sz="1300" spc="35">
                <a:solidFill>
                  <a:srgbClr val="1C287C"/>
                </a:solidFill>
                <a:latin typeface="Arial Black"/>
                <a:cs typeface="Arial Black"/>
              </a:rPr>
              <a:t> </a:t>
            </a:r>
            <a:r>
              <a:rPr dirty="0" sz="1300" spc="-125">
                <a:solidFill>
                  <a:srgbClr val="182474"/>
                </a:solidFill>
                <a:latin typeface="Arial Black"/>
                <a:cs typeface="Arial Black"/>
              </a:rPr>
              <a:t>overfitting</a:t>
            </a:r>
            <a:r>
              <a:rPr dirty="0" sz="1300" spc="110">
                <a:solidFill>
                  <a:srgbClr val="182474"/>
                </a:solidFill>
                <a:latin typeface="Arial Black"/>
                <a:cs typeface="Arial Black"/>
              </a:rPr>
              <a:t> </a:t>
            </a:r>
            <a:r>
              <a:rPr dirty="0" sz="1300" spc="-175">
                <a:solidFill>
                  <a:srgbClr val="132A75"/>
                </a:solidFill>
                <a:latin typeface="Arial Black"/>
                <a:cs typeface="Arial Black"/>
              </a:rPr>
              <a:t>with</a:t>
            </a:r>
            <a:r>
              <a:rPr dirty="0" sz="1300" spc="5">
                <a:solidFill>
                  <a:srgbClr val="132A75"/>
                </a:solidFill>
                <a:latin typeface="Arial Black"/>
                <a:cs typeface="Arial Black"/>
              </a:rPr>
              <a:t> </a:t>
            </a:r>
            <a:r>
              <a:rPr dirty="0" sz="1300" spc="-135">
                <a:solidFill>
                  <a:srgbClr val="1F2F7E"/>
                </a:solidFill>
                <a:latin typeface="Arial Black"/>
                <a:cs typeface="Arial Black"/>
              </a:rPr>
              <a:t>all</a:t>
            </a:r>
            <a:r>
              <a:rPr dirty="0" sz="1300" spc="-50">
                <a:solidFill>
                  <a:srgbClr val="1F2F7E"/>
                </a:solidFill>
                <a:latin typeface="Arial Black"/>
                <a:cs typeface="Arial Black"/>
              </a:rPr>
              <a:t> </a:t>
            </a:r>
            <a:r>
              <a:rPr dirty="0" sz="1300" spc="-45">
                <a:solidFill>
                  <a:srgbClr val="16286D"/>
                </a:solidFill>
                <a:latin typeface="Arial Black"/>
                <a:cs typeface="Arial Black"/>
              </a:rPr>
              <a:t>features</a:t>
            </a:r>
            <a:endParaRPr sz="1300">
              <a:latin typeface="Arial Black"/>
              <a:cs typeface="Arial Black"/>
            </a:endParaRPr>
          </a:p>
          <a:p>
            <a:pPr marL="250825" indent="-233679">
              <a:lnSpc>
                <a:spcPct val="100000"/>
              </a:lnSpc>
              <a:spcBef>
                <a:spcPts val="1745"/>
              </a:spcBef>
              <a:buClr>
                <a:srgbClr val="1649FD"/>
              </a:buClr>
              <a:buChar char="•"/>
              <a:tabLst>
                <a:tab pos="250825" algn="l"/>
              </a:tabLst>
            </a:pPr>
            <a:r>
              <a:rPr dirty="0" sz="1200" spc="-55">
                <a:solidFill>
                  <a:srgbClr val="242424"/>
                </a:solidFill>
                <a:latin typeface="Arial"/>
                <a:cs typeface="Arial"/>
              </a:rPr>
              <a:t>Feature</a:t>
            </a:r>
            <a:r>
              <a:rPr dirty="0" sz="1200" spc="-30">
                <a:solidFill>
                  <a:srgbClr val="242424"/>
                </a:solidFill>
                <a:latin typeface="Arial"/>
                <a:cs typeface="Arial"/>
              </a:rPr>
              <a:t> </a:t>
            </a:r>
            <a:r>
              <a:rPr dirty="0" sz="1200" spc="-45">
                <a:solidFill>
                  <a:srgbClr val="2A2A2A"/>
                </a:solidFill>
                <a:latin typeface="Arial"/>
                <a:cs typeface="Arial"/>
              </a:rPr>
              <a:t>selection</a:t>
            </a:r>
            <a:r>
              <a:rPr dirty="0" sz="1200" spc="-2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dirty="0" sz="1200" spc="-70">
                <a:solidFill>
                  <a:srgbClr val="282828"/>
                </a:solidFill>
                <a:latin typeface="Arial"/>
                <a:cs typeface="Arial"/>
              </a:rPr>
              <a:t>saved</a:t>
            </a:r>
            <a:r>
              <a:rPr dirty="0" sz="1200" spc="-5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262626"/>
                </a:solidFill>
                <a:latin typeface="Arial"/>
                <a:cs typeface="Arial"/>
              </a:rPr>
              <a:t>us</a:t>
            </a:r>
            <a:r>
              <a:rPr dirty="0" sz="1200" spc="-50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1200" spc="-65">
                <a:solidFill>
                  <a:srgbClr val="212121"/>
                </a:solidFill>
                <a:latin typeface="Arial"/>
                <a:cs typeface="Arial"/>
              </a:rPr>
              <a:t>from</a:t>
            </a:r>
            <a:r>
              <a:rPr dirty="0" sz="1200" spc="-2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1200" spc="-60">
                <a:solidFill>
                  <a:srgbClr val="232323"/>
                </a:solidFill>
                <a:latin typeface="Arial"/>
                <a:cs typeface="Arial"/>
              </a:rPr>
              <a:t>much</a:t>
            </a:r>
            <a:r>
              <a:rPr dirty="0" sz="1200" spc="10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1200" spc="-60">
                <a:solidFill>
                  <a:srgbClr val="2F2F2F"/>
                </a:solidFill>
                <a:latin typeface="Arial"/>
                <a:cs typeface="Arial"/>
              </a:rPr>
              <a:t>worse</a:t>
            </a:r>
            <a:r>
              <a:rPr dirty="0" sz="1200" spc="15">
                <a:solidFill>
                  <a:srgbClr val="2F2F2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12121"/>
                </a:solidFill>
                <a:latin typeface="Arial"/>
                <a:cs typeface="Arial"/>
              </a:rPr>
              <a:t>overfitting</a:t>
            </a:r>
            <a:endParaRPr sz="1200">
              <a:latin typeface="Arial"/>
              <a:cs typeface="Arial"/>
            </a:endParaRPr>
          </a:p>
          <a:p>
            <a:pPr marL="254000" indent="-236854">
              <a:lnSpc>
                <a:spcPct val="100000"/>
              </a:lnSpc>
              <a:spcBef>
                <a:spcPts val="1045"/>
              </a:spcBef>
              <a:buClr>
                <a:srgbClr val="114DD8"/>
              </a:buClr>
              <a:buChar char="•"/>
              <a:tabLst>
                <a:tab pos="254000" algn="l"/>
              </a:tabLst>
            </a:pPr>
            <a:r>
              <a:rPr dirty="0" sz="1200" spc="-25">
                <a:solidFill>
                  <a:srgbClr val="2A2A2A"/>
                </a:solidFill>
                <a:latin typeface="Arial"/>
                <a:cs typeface="Arial"/>
              </a:rPr>
              <a:t>0.61</a:t>
            </a:r>
            <a:r>
              <a:rPr dirty="0" sz="1200" spc="5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dirty="0" sz="1200" spc="-45">
                <a:solidFill>
                  <a:srgbClr val="2A2A2A"/>
                </a:solidFill>
                <a:latin typeface="Arial"/>
                <a:cs typeface="Arial"/>
              </a:rPr>
              <a:t>-</a:t>
            </a:r>
            <a:r>
              <a:rPr dirty="0" sz="1200">
                <a:solidFill>
                  <a:srgbClr val="2A2A2A"/>
                </a:solidFill>
                <a:latin typeface="Arial"/>
                <a:cs typeface="Arial"/>
              </a:rPr>
              <a:t>•</a:t>
            </a:r>
            <a:r>
              <a:rPr dirty="0" sz="1200" spc="17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dirty="0" sz="1200" spc="-45">
                <a:solidFill>
                  <a:srgbClr val="2B2B2B"/>
                </a:solidFill>
                <a:latin typeface="Arial"/>
                <a:cs typeface="Arial"/>
              </a:rPr>
              <a:t>0.72</a:t>
            </a:r>
            <a:r>
              <a:rPr dirty="0" sz="1200" spc="-6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dirty="0" sz="1200" spc="-55">
                <a:solidFill>
                  <a:srgbClr val="282828"/>
                </a:solidFill>
                <a:latin typeface="Arial"/>
                <a:cs typeface="Arial"/>
              </a:rPr>
              <a:t>gap</a:t>
            </a:r>
            <a:r>
              <a:rPr dirty="0" sz="1200" spc="-5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313131"/>
                </a:solidFill>
                <a:latin typeface="Arial"/>
                <a:cs typeface="Arial"/>
              </a:rPr>
              <a:t>is</a:t>
            </a:r>
            <a:r>
              <a:rPr dirty="0" sz="1200" spc="-70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dirty="0" sz="1200" spc="-45">
                <a:solidFill>
                  <a:srgbClr val="2F2F2F"/>
                </a:solidFill>
                <a:latin typeface="Arial"/>
                <a:cs typeface="Arial"/>
              </a:rPr>
              <a:t>the</a:t>
            </a:r>
            <a:r>
              <a:rPr dirty="0" sz="1200" spc="-65">
                <a:solidFill>
                  <a:srgbClr val="2F2F2F"/>
                </a:solidFill>
                <a:latin typeface="Arial"/>
                <a:cs typeface="Arial"/>
              </a:rPr>
              <a:t> </a:t>
            </a:r>
            <a:r>
              <a:rPr dirty="0" sz="1200" spc="-30">
                <a:solidFill>
                  <a:srgbClr val="232323"/>
                </a:solidFill>
                <a:latin typeface="Arial"/>
                <a:cs typeface="Arial"/>
              </a:rPr>
              <a:t>price</a:t>
            </a:r>
            <a:r>
              <a:rPr dirty="0" sz="1200" spc="-5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1200" spc="-65">
                <a:solidFill>
                  <a:srgbClr val="333333"/>
                </a:solidFill>
                <a:latin typeface="Arial"/>
                <a:cs typeface="Arial"/>
              </a:rPr>
              <a:t>of</a:t>
            </a:r>
            <a:r>
              <a:rPr dirty="0" sz="1200" spc="-1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 spc="-55">
                <a:solidFill>
                  <a:srgbClr val="2A2A2A"/>
                </a:solidFill>
                <a:latin typeface="Arial"/>
                <a:cs typeface="Arial"/>
              </a:rPr>
              <a:t>real-world</a:t>
            </a:r>
            <a:r>
              <a:rPr dirty="0" sz="1200" spc="-2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2323"/>
                </a:solidFill>
                <a:latin typeface="Arial"/>
                <a:cs typeface="Arial"/>
              </a:rPr>
              <a:t>generalization</a:t>
            </a:r>
            <a:endParaRPr sz="1200">
              <a:latin typeface="Arial"/>
              <a:cs typeface="Arial"/>
            </a:endParaRPr>
          </a:p>
          <a:p>
            <a:pPr marL="252729" indent="-235585">
              <a:lnSpc>
                <a:spcPct val="100000"/>
              </a:lnSpc>
              <a:spcBef>
                <a:spcPts val="960"/>
              </a:spcBef>
              <a:buClr>
                <a:srgbClr val="1646E8"/>
              </a:buClr>
              <a:buChar char="•"/>
              <a:tabLst>
                <a:tab pos="252729" algn="l"/>
              </a:tabLst>
            </a:pPr>
            <a:r>
              <a:rPr dirty="0" sz="1200" spc="-55">
                <a:solidFill>
                  <a:srgbClr val="2A2A2A"/>
                </a:solidFill>
                <a:latin typeface="Arial"/>
                <a:cs typeface="Arial"/>
              </a:rPr>
              <a:t>Better</a:t>
            </a:r>
            <a:r>
              <a:rPr dirty="0" sz="1200" spc="15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dirty="0" sz="1200" spc="-60">
                <a:solidFill>
                  <a:srgbClr val="2A2A2A"/>
                </a:solidFill>
                <a:latin typeface="Arial"/>
                <a:cs typeface="Arial"/>
              </a:rPr>
              <a:t>than</a:t>
            </a:r>
            <a:r>
              <a:rPr dirty="0" sz="1200" spc="-3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dirty="0" sz="1200" spc="-45">
                <a:solidFill>
                  <a:srgbClr val="262626"/>
                </a:solidFill>
                <a:latin typeface="Arial"/>
                <a:cs typeface="Arial"/>
              </a:rPr>
              <a:t>potential</a:t>
            </a:r>
            <a:r>
              <a:rPr dirty="0" sz="1200" spc="-5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1200" spc="-55">
                <a:solidFill>
                  <a:srgbClr val="282828"/>
                </a:solidFill>
                <a:latin typeface="Arial"/>
                <a:cs typeface="Arial"/>
              </a:rPr>
              <a:t>0.80+</a:t>
            </a:r>
            <a:r>
              <a:rPr dirty="0" sz="1200" spc="-15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200" spc="-55">
                <a:solidFill>
                  <a:srgbClr val="2F2F2F"/>
                </a:solidFill>
                <a:latin typeface="Arial"/>
                <a:cs typeface="Arial"/>
              </a:rPr>
              <a:t>with</a:t>
            </a:r>
            <a:r>
              <a:rPr dirty="0" sz="1200" spc="-15">
                <a:solidFill>
                  <a:srgbClr val="2F2F2F"/>
                </a:solidFill>
                <a:latin typeface="Arial"/>
                <a:cs typeface="Arial"/>
              </a:rPr>
              <a:t> </a:t>
            </a:r>
            <a:r>
              <a:rPr dirty="0" sz="1200" spc="-50">
                <a:solidFill>
                  <a:srgbClr val="212121"/>
                </a:solidFill>
                <a:latin typeface="Arial"/>
                <a:cs typeface="Arial"/>
              </a:rPr>
              <a:t>noisy</a:t>
            </a:r>
            <a:r>
              <a:rPr dirty="0" sz="1200" spc="25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82828"/>
                </a:solidFill>
                <a:latin typeface="Arial"/>
                <a:cs typeface="Arial"/>
              </a:rPr>
              <a:t>features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97055" y="3252108"/>
            <a:ext cx="7492274" cy="1999342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201022" y="413275"/>
            <a:ext cx="10313670" cy="6706234"/>
            <a:chOff x="201022" y="413275"/>
            <a:chExt cx="10313670" cy="6706234"/>
          </a:xfrm>
        </p:grpSpPr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1022" y="438998"/>
              <a:ext cx="10301876" cy="536665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204179" y="413275"/>
              <a:ext cx="0" cy="6706234"/>
            </a:xfrm>
            <a:custGeom>
              <a:avLst/>
              <a:gdLst/>
              <a:ahLst/>
              <a:cxnLst/>
              <a:rect l="l" t="t" r="r" b="b"/>
              <a:pathLst>
                <a:path w="0" h="6706234">
                  <a:moveTo>
                    <a:pt x="0" y="670609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202659" y="7114814"/>
              <a:ext cx="10311765" cy="0"/>
            </a:xfrm>
            <a:custGeom>
              <a:avLst/>
              <a:gdLst/>
              <a:ahLst/>
              <a:cxnLst/>
              <a:rect l="l" t="t" r="r" b="b"/>
              <a:pathLst>
                <a:path w="10311765" h="0">
                  <a:moveTo>
                    <a:pt x="0" y="0"/>
                  </a:moveTo>
                  <a:lnTo>
                    <a:pt x="103114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202659" y="6792580"/>
              <a:ext cx="10311765" cy="0"/>
            </a:xfrm>
            <a:custGeom>
              <a:avLst/>
              <a:gdLst/>
              <a:ahLst/>
              <a:cxnLst/>
              <a:rect l="l" t="t" r="r" b="b"/>
              <a:pathLst>
                <a:path w="10311765" h="0">
                  <a:moveTo>
                    <a:pt x="0" y="0"/>
                  </a:moveTo>
                  <a:lnTo>
                    <a:pt x="103114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202659" y="983264"/>
              <a:ext cx="10311765" cy="0"/>
            </a:xfrm>
            <a:custGeom>
              <a:avLst/>
              <a:gdLst/>
              <a:ahLst/>
              <a:cxnLst/>
              <a:rect l="l" t="t" r="r" b="b"/>
              <a:pathLst>
                <a:path w="10311765" h="0">
                  <a:moveTo>
                    <a:pt x="0" y="0"/>
                  </a:moveTo>
                  <a:lnTo>
                    <a:pt x="103114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202659" y="433036"/>
              <a:ext cx="10311765" cy="0"/>
            </a:xfrm>
            <a:custGeom>
              <a:avLst/>
              <a:gdLst/>
              <a:ahLst/>
              <a:cxnLst/>
              <a:rect l="l" t="t" r="r" b="b"/>
              <a:pathLst>
                <a:path w="10311765" h="0">
                  <a:moveTo>
                    <a:pt x="0" y="0"/>
                  </a:moveTo>
                  <a:lnTo>
                    <a:pt x="103114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5875">
              <a:lnSpc>
                <a:spcPct val="100000"/>
              </a:lnSpc>
              <a:spcBef>
                <a:spcPts val="90"/>
              </a:spcBef>
            </a:pPr>
            <a:r>
              <a:rPr dirty="0" spc="-165">
                <a:solidFill>
                  <a:srgbClr val="181818"/>
                </a:solidFill>
              </a:rPr>
              <a:t>Bias-</a:t>
            </a:r>
            <a:r>
              <a:rPr dirty="0" spc="-130">
                <a:solidFill>
                  <a:srgbClr val="181818"/>
                </a:solidFill>
              </a:rPr>
              <a:t>Variance</a:t>
            </a:r>
            <a:r>
              <a:rPr dirty="0" spc="55">
                <a:solidFill>
                  <a:srgbClr val="181818"/>
                </a:solidFill>
              </a:rPr>
              <a:t> </a:t>
            </a:r>
            <a:r>
              <a:rPr dirty="0" spc="-130">
                <a:solidFill>
                  <a:srgbClr val="151515"/>
                </a:solidFill>
              </a:rPr>
              <a:t>Tradeoff</a:t>
            </a:r>
          </a:p>
        </p:txBody>
      </p:sp>
      <p:sp>
        <p:nvSpPr>
          <p:cNvPr id="11" name="object 11" descr=""/>
          <p:cNvSpPr txBox="1"/>
          <p:nvPr/>
        </p:nvSpPr>
        <p:spPr>
          <a:xfrm>
            <a:off x="662720" y="2244804"/>
            <a:ext cx="379730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spc="-165">
                <a:solidFill>
                  <a:srgbClr val="3F3F3F"/>
                </a:solidFill>
                <a:latin typeface="Arial Black"/>
                <a:cs typeface="Arial Black"/>
              </a:rPr>
              <a:t>High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704984" y="5696299"/>
            <a:ext cx="1902460" cy="8909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spc="-310">
                <a:solidFill>
                  <a:srgbClr val="3D3D3D"/>
                </a:solidFill>
                <a:latin typeface="Arial Black"/>
                <a:cs typeface="Arial Black"/>
              </a:rPr>
              <a:t>Low</a:t>
            </a:r>
            <a:endParaRPr sz="1400">
              <a:latin typeface="Arial Black"/>
              <a:cs typeface="Arial Black"/>
            </a:endParaRPr>
          </a:p>
          <a:p>
            <a:pPr marL="285750">
              <a:lnSpc>
                <a:spcPct val="100000"/>
              </a:lnSpc>
              <a:spcBef>
                <a:spcPts val="1195"/>
              </a:spcBef>
            </a:pPr>
            <a:r>
              <a:rPr dirty="0" sz="1450" spc="-300">
                <a:solidFill>
                  <a:srgbClr val="3F3F3F"/>
                </a:solidFill>
                <a:latin typeface="Arial Black"/>
                <a:cs typeface="Arial Black"/>
              </a:rPr>
              <a:t>Low</a:t>
            </a:r>
            <a:r>
              <a:rPr dirty="0" sz="1450" spc="-114">
                <a:solidFill>
                  <a:srgbClr val="3F3F3F"/>
                </a:solidFill>
                <a:latin typeface="Arial Black"/>
                <a:cs typeface="Arial Black"/>
              </a:rPr>
              <a:t> </a:t>
            </a:r>
            <a:r>
              <a:rPr dirty="0" sz="1450" spc="-140">
                <a:solidFill>
                  <a:srgbClr val="3F3F3F"/>
                </a:solidFill>
                <a:latin typeface="Arial Black"/>
                <a:cs typeface="Arial Black"/>
              </a:rPr>
              <a:t>Complexity</a:t>
            </a:r>
            <a:endParaRPr sz="1450">
              <a:latin typeface="Arial Black"/>
              <a:cs typeface="Arial Black"/>
            </a:endParaRPr>
          </a:p>
          <a:p>
            <a:pPr marL="850265">
              <a:lnSpc>
                <a:spcPct val="100000"/>
              </a:lnSpc>
              <a:spcBef>
                <a:spcPts val="520"/>
              </a:spcBef>
            </a:pPr>
            <a:r>
              <a:rPr dirty="0" sz="1400" spc="-155">
                <a:solidFill>
                  <a:srgbClr val="3F3F3F"/>
                </a:solidFill>
                <a:latin typeface="Arial Black"/>
                <a:cs typeface="Arial Black"/>
              </a:rPr>
              <a:t>(Underfitting)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4621491" y="2394267"/>
            <a:ext cx="144208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215">
                <a:solidFill>
                  <a:srgbClr val="318C4F"/>
                </a:solidFill>
                <a:latin typeface="Arial Black"/>
                <a:cs typeface="Arial Black"/>
              </a:rPr>
              <a:t>Optimal</a:t>
            </a:r>
            <a:r>
              <a:rPr dirty="0" sz="1300" spc="-35">
                <a:solidFill>
                  <a:srgbClr val="318C4F"/>
                </a:solidFill>
                <a:latin typeface="Arial Black"/>
                <a:cs typeface="Arial Black"/>
              </a:rPr>
              <a:t> </a:t>
            </a:r>
            <a:r>
              <a:rPr dirty="0" sz="1300">
                <a:solidFill>
                  <a:srgbClr val="368C52"/>
                </a:solidFill>
                <a:latin typeface="Arial Black"/>
                <a:cs typeface="Arial Black"/>
              </a:rPr>
              <a:t>/ </a:t>
            </a:r>
            <a:r>
              <a:rPr dirty="0" sz="1300" spc="-265">
                <a:solidFill>
                  <a:srgbClr val="339046"/>
                </a:solidFill>
                <a:latin typeface="Arial Black"/>
                <a:cs typeface="Arial Black"/>
              </a:rPr>
              <a:t>Sweet</a:t>
            </a:r>
            <a:r>
              <a:rPr dirty="0" sz="1300" spc="-40">
                <a:solidFill>
                  <a:srgbClr val="339046"/>
                </a:solidFill>
                <a:latin typeface="Arial Black"/>
                <a:cs typeface="Arial Black"/>
              </a:rPr>
              <a:t> </a:t>
            </a:r>
            <a:r>
              <a:rPr dirty="0" sz="1300" spc="-215">
                <a:solidFill>
                  <a:srgbClr val="2A994B"/>
                </a:solidFill>
                <a:latin typeface="Arial Black"/>
                <a:cs typeface="Arial Black"/>
              </a:rPr>
              <a:t>Spot</a:t>
            </a:r>
            <a:endParaRPr sz="1300">
              <a:latin typeface="Arial Black"/>
              <a:cs typeface="Arial Black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3310171" y="2539053"/>
            <a:ext cx="2390775" cy="5956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50800">
              <a:lnSpc>
                <a:spcPts val="2875"/>
              </a:lnSpc>
              <a:spcBef>
                <a:spcPts val="90"/>
              </a:spcBef>
            </a:pPr>
            <a:r>
              <a:rPr dirty="0" sz="1350" spc="-225">
                <a:solidFill>
                  <a:srgbClr val="181818"/>
                </a:solidFill>
                <a:latin typeface="Arial Black"/>
                <a:cs typeface="Arial Black"/>
              </a:rPr>
              <a:t>Validation:</a:t>
            </a:r>
            <a:r>
              <a:rPr dirty="0" sz="1350" spc="20">
                <a:solidFill>
                  <a:srgbClr val="181818"/>
                </a:solidFill>
                <a:latin typeface="Arial Black"/>
                <a:cs typeface="Arial Black"/>
              </a:rPr>
              <a:t> </a:t>
            </a:r>
            <a:r>
              <a:rPr dirty="0" sz="1350" spc="-190">
                <a:solidFill>
                  <a:srgbClr val="232323"/>
                </a:solidFill>
                <a:latin typeface="Arial Black"/>
                <a:cs typeface="Arial Black"/>
              </a:rPr>
              <a:t>0.61</a:t>
            </a:r>
            <a:r>
              <a:rPr dirty="0" sz="1350" spc="-245">
                <a:solidFill>
                  <a:srgbClr val="232323"/>
                </a:solidFill>
                <a:latin typeface="Arial Black"/>
                <a:cs typeface="Arial Black"/>
              </a:rPr>
              <a:t> </a:t>
            </a:r>
            <a:r>
              <a:rPr dirty="0" sz="1350" spc="-229">
                <a:solidFill>
                  <a:srgbClr val="242424"/>
                </a:solidFill>
                <a:latin typeface="Arial Black"/>
                <a:cs typeface="Arial Black"/>
              </a:rPr>
              <a:t>(25</a:t>
            </a:r>
            <a:r>
              <a:rPr dirty="0" sz="1350" spc="-60">
                <a:solidFill>
                  <a:srgbClr val="242424"/>
                </a:solidFill>
                <a:latin typeface="Arial Black"/>
                <a:cs typeface="Arial Black"/>
              </a:rPr>
              <a:t> </a:t>
            </a:r>
            <a:r>
              <a:rPr dirty="0" sz="1350" spc="-229">
                <a:solidFill>
                  <a:srgbClr val="1C1C1C"/>
                </a:solidFill>
                <a:latin typeface="Arial Black"/>
                <a:cs typeface="Arial Black"/>
              </a:rPr>
              <a:t>featurest</a:t>
            </a:r>
            <a:r>
              <a:rPr dirty="0" sz="1350" spc="175">
                <a:solidFill>
                  <a:srgbClr val="1C1C1C"/>
                </a:solidFill>
                <a:latin typeface="Arial Black"/>
                <a:cs typeface="Arial Black"/>
              </a:rPr>
              <a:t> </a:t>
            </a:r>
            <a:r>
              <a:rPr dirty="0" baseline="-19675" sz="3600" spc="-75">
                <a:solidFill>
                  <a:srgbClr val="1A9138"/>
                </a:solidFill>
                <a:latin typeface="Arial Black"/>
                <a:cs typeface="Arial Black"/>
              </a:rPr>
              <a:t>O</a:t>
            </a:r>
            <a:endParaRPr baseline="-19675" sz="3600">
              <a:latin typeface="Arial Black"/>
              <a:cs typeface="Arial Black"/>
            </a:endParaRPr>
          </a:p>
          <a:p>
            <a:pPr marL="697230">
              <a:lnSpc>
                <a:spcPts val="1614"/>
              </a:lnSpc>
            </a:pPr>
            <a:r>
              <a:rPr dirty="0" sz="1350" spc="-320">
                <a:solidFill>
                  <a:srgbClr val="484848"/>
                </a:solidFill>
                <a:latin typeface="Arial Black"/>
                <a:cs typeface="Arial Black"/>
              </a:rPr>
              <a:t>Reduced</a:t>
            </a:r>
            <a:r>
              <a:rPr dirty="0" sz="1350" spc="-10">
                <a:solidFill>
                  <a:srgbClr val="484848"/>
                </a:solidFill>
                <a:latin typeface="Arial Black"/>
                <a:cs typeface="Arial Black"/>
              </a:rPr>
              <a:t> </a:t>
            </a:r>
            <a:r>
              <a:rPr dirty="0" sz="1350" spc="-75">
                <a:solidFill>
                  <a:srgbClr val="4B4B4B"/>
                </a:solidFill>
                <a:latin typeface="Arial Black"/>
                <a:cs typeface="Arial Black"/>
              </a:rPr>
              <a:t>Overfittin/</a:t>
            </a:r>
            <a:endParaRPr sz="1350">
              <a:latin typeface="Arial Black"/>
              <a:cs typeface="Arial Black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8258185" y="3272536"/>
            <a:ext cx="748665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spc="-325">
                <a:solidFill>
                  <a:srgbClr val="424242"/>
                </a:solidFill>
                <a:latin typeface="Arial Black"/>
                <a:cs typeface="Arial Black"/>
              </a:rPr>
              <a:t>25</a:t>
            </a:r>
            <a:r>
              <a:rPr dirty="0" sz="1400" spc="-85">
                <a:solidFill>
                  <a:srgbClr val="424242"/>
                </a:solidFill>
                <a:latin typeface="Arial Black"/>
                <a:cs typeface="Arial Black"/>
              </a:rPr>
              <a:t> </a:t>
            </a:r>
            <a:r>
              <a:rPr dirty="0" sz="1400" spc="-315">
                <a:solidFill>
                  <a:srgbClr val="444444"/>
                </a:solidFill>
                <a:latin typeface="Arial Black"/>
                <a:cs typeface="Arial Black"/>
              </a:rPr>
              <a:t>features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9213949" y="3272536"/>
            <a:ext cx="704850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spc="-415">
                <a:solidFill>
                  <a:srgbClr val="424242"/>
                </a:solidFill>
                <a:latin typeface="Arial Black"/>
                <a:cs typeface="Arial Black"/>
              </a:rPr>
              <a:t>Real—</a:t>
            </a:r>
            <a:r>
              <a:rPr dirty="0" sz="1400" spc="-380">
                <a:solidFill>
                  <a:srgbClr val="424242"/>
                </a:solidFill>
                <a:latin typeface="Arial Black"/>
                <a:cs typeface="Arial Black"/>
              </a:rPr>
              <a:t>world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5932698" y="3272536"/>
            <a:ext cx="2134870" cy="4159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ts val="1570"/>
              </a:lnSpc>
              <a:spcBef>
                <a:spcPts val="95"/>
              </a:spcBef>
              <a:tabLst>
                <a:tab pos="347345" algn="l"/>
              </a:tabLst>
            </a:pPr>
            <a:r>
              <a:rPr dirty="0" sz="1400" spc="-50">
                <a:solidFill>
                  <a:srgbClr val="1C44DA"/>
                </a:solidFill>
                <a:latin typeface="Arial Black"/>
                <a:cs typeface="Arial Black"/>
              </a:rPr>
              <a:t>0</a:t>
            </a:r>
            <a:r>
              <a:rPr dirty="0" sz="1400">
                <a:solidFill>
                  <a:srgbClr val="1C44DA"/>
                </a:solidFill>
                <a:latin typeface="Arial Black"/>
                <a:cs typeface="Arial Black"/>
              </a:rPr>
              <a:t>	</a:t>
            </a:r>
            <a:r>
              <a:rPr dirty="0" sz="1400">
                <a:solidFill>
                  <a:srgbClr val="161616"/>
                </a:solidFill>
                <a:latin typeface="Arial Black"/>
                <a:cs typeface="Arial Black"/>
              </a:rPr>
              <a:t>’</a:t>
            </a:r>
            <a:r>
              <a:rPr dirty="0" baseline="27777" sz="1200">
                <a:solidFill>
                  <a:srgbClr val="161616"/>
                </a:solidFill>
                <a:latin typeface="Arial Black"/>
                <a:cs typeface="Arial Black"/>
              </a:rPr>
              <a:t>a</a:t>
            </a:r>
            <a:r>
              <a:rPr dirty="0" sz="1400">
                <a:solidFill>
                  <a:srgbClr val="161616"/>
                </a:solidFill>
                <a:latin typeface="Arial Black"/>
                <a:cs typeface="Arial Black"/>
              </a:rPr>
              <a:t>•g</a:t>
            </a:r>
            <a:r>
              <a:rPr dirty="0" baseline="27777" sz="1200">
                <a:solidFill>
                  <a:srgbClr val="161616"/>
                </a:solidFill>
                <a:latin typeface="Arial Black"/>
                <a:cs typeface="Arial Black"/>
              </a:rPr>
              <a:t>e</a:t>
            </a:r>
            <a:r>
              <a:rPr dirty="0" sz="1400">
                <a:solidFill>
                  <a:srgbClr val="161616"/>
                </a:solidFill>
                <a:latin typeface="Arial Black"/>
                <a:cs typeface="Arial Black"/>
              </a:rPr>
              <a:t>:</a:t>
            </a:r>
            <a:r>
              <a:rPr dirty="0" baseline="16460" sz="2025">
                <a:solidFill>
                  <a:srgbClr val="1F1F1F"/>
                </a:solidFill>
                <a:latin typeface="Arial Black"/>
                <a:cs typeface="Arial Black"/>
              </a:rPr>
              <a:t>0</a:t>
            </a:r>
            <a:r>
              <a:rPr dirty="0" sz="1400">
                <a:solidFill>
                  <a:srgbClr val="1F1F1F"/>
                </a:solidFill>
                <a:latin typeface="Arial Black"/>
                <a:cs typeface="Arial Black"/>
              </a:rPr>
              <a:t>-</a:t>
            </a:r>
            <a:r>
              <a:rPr dirty="0" baseline="15873" sz="2100" spc="-187">
                <a:solidFill>
                  <a:srgbClr val="1F1F1F"/>
                </a:solidFill>
                <a:latin typeface="Arial Black"/>
                <a:cs typeface="Arial Black"/>
              </a:rPr>
              <a:t>7</a:t>
            </a:r>
            <a:r>
              <a:rPr dirty="0" baseline="16460" sz="2025" spc="-187">
                <a:solidFill>
                  <a:srgbClr val="1F1F1F"/>
                </a:solidFill>
                <a:latin typeface="Arial Black"/>
                <a:cs typeface="Arial Black"/>
              </a:rPr>
              <a:t>2</a:t>
            </a:r>
            <a:r>
              <a:rPr dirty="0" baseline="16460" sz="2025" spc="390">
                <a:solidFill>
                  <a:srgbClr val="1F1F1F"/>
                </a:solidFill>
                <a:latin typeface="Arial Black"/>
                <a:cs typeface="Arial Black"/>
              </a:rPr>
              <a:t> </a:t>
            </a:r>
            <a:r>
              <a:rPr dirty="0" sz="1400" spc="-295">
                <a:solidFill>
                  <a:srgbClr val="505050"/>
                </a:solidFill>
                <a:latin typeface="Arial Black"/>
                <a:cs typeface="Arial Black"/>
              </a:rPr>
              <a:t>50+</a:t>
            </a:r>
            <a:r>
              <a:rPr dirty="0" sz="1400" spc="5">
                <a:solidFill>
                  <a:srgbClr val="505050"/>
                </a:solidFill>
                <a:latin typeface="Arial Black"/>
                <a:cs typeface="Arial Black"/>
              </a:rPr>
              <a:t> </a:t>
            </a:r>
            <a:r>
              <a:rPr dirty="0" sz="1400" spc="-315">
                <a:solidFill>
                  <a:srgbClr val="444444"/>
                </a:solidFill>
                <a:latin typeface="Arial Black"/>
                <a:cs typeface="Arial Black"/>
              </a:rPr>
              <a:t>features</a:t>
            </a:r>
            <a:endParaRPr sz="1400">
              <a:latin typeface="Arial Black"/>
              <a:cs typeface="Arial Black"/>
            </a:endParaRPr>
          </a:p>
          <a:p>
            <a:pPr marL="347980">
              <a:lnSpc>
                <a:spcPts val="1510"/>
              </a:lnSpc>
            </a:pPr>
            <a:r>
              <a:rPr dirty="0" sz="1350" spc="-229">
                <a:solidFill>
                  <a:srgbClr val="424242"/>
                </a:solidFill>
                <a:latin typeface="Arial Black"/>
                <a:cs typeface="Arial Black"/>
              </a:rPr>
              <a:t>Real-</a:t>
            </a:r>
            <a:r>
              <a:rPr dirty="0" sz="1350" spc="-254">
                <a:solidFill>
                  <a:srgbClr val="424242"/>
                </a:solidFill>
                <a:latin typeface="Arial Black"/>
                <a:cs typeface="Arial Black"/>
              </a:rPr>
              <a:t>World</a:t>
            </a:r>
            <a:r>
              <a:rPr dirty="0" sz="1350" spc="35">
                <a:solidFill>
                  <a:srgbClr val="424242"/>
                </a:solidFill>
                <a:latin typeface="Arial Black"/>
                <a:cs typeface="Arial Black"/>
              </a:rPr>
              <a:t> </a:t>
            </a:r>
            <a:r>
              <a:rPr dirty="0" sz="1350" spc="-200">
                <a:solidFill>
                  <a:srgbClr val="464646"/>
                </a:solidFill>
                <a:latin typeface="Arial Black"/>
                <a:cs typeface="Arial Black"/>
              </a:rPr>
              <a:t>Generalization</a:t>
            </a:r>
            <a:endParaRPr sz="1350">
              <a:latin typeface="Arial Black"/>
              <a:cs typeface="Arial Black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2884846" y="5229593"/>
            <a:ext cx="4919980" cy="1079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065" marR="5080">
              <a:lnSpc>
                <a:spcPct val="150500"/>
              </a:lnSpc>
              <a:spcBef>
                <a:spcPts val="100"/>
              </a:spcBef>
            </a:pPr>
            <a:r>
              <a:rPr dirty="0" sz="1300" spc="-235">
                <a:solidFill>
                  <a:srgbClr val="494949"/>
                </a:solidFill>
                <a:latin typeface="Arial Black"/>
                <a:cs typeface="Arial Black"/>
              </a:rPr>
              <a:t>25</a:t>
            </a:r>
            <a:r>
              <a:rPr dirty="0" sz="1300" spc="-50">
                <a:solidFill>
                  <a:srgbClr val="494949"/>
                </a:solidFill>
                <a:latin typeface="Arial Black"/>
                <a:cs typeface="Arial Black"/>
              </a:rPr>
              <a:t> </a:t>
            </a:r>
            <a:r>
              <a:rPr dirty="0" sz="1300" spc="-204">
                <a:solidFill>
                  <a:srgbClr val="3F3F3F"/>
                </a:solidFill>
                <a:latin typeface="Arial Black"/>
                <a:cs typeface="Arial Black"/>
              </a:rPr>
              <a:t>features</a:t>
            </a:r>
            <a:r>
              <a:rPr dirty="0" sz="1300" spc="35">
                <a:solidFill>
                  <a:srgbClr val="3F3F3F"/>
                </a:solidFill>
                <a:latin typeface="Arial Black"/>
                <a:cs typeface="Arial Black"/>
              </a:rPr>
              <a:t> </a:t>
            </a:r>
            <a:r>
              <a:rPr dirty="0" sz="1300" spc="-110">
                <a:solidFill>
                  <a:srgbClr val="484848"/>
                </a:solidFill>
                <a:latin typeface="Arial Black"/>
                <a:cs typeface="Arial Black"/>
              </a:rPr>
              <a:t>-</a:t>
            </a:r>
            <a:r>
              <a:rPr dirty="0" sz="1300" spc="-90">
                <a:solidFill>
                  <a:srgbClr val="484848"/>
                </a:solidFill>
                <a:latin typeface="Arial Black"/>
                <a:cs typeface="Arial Black"/>
              </a:rPr>
              <a:t> </a:t>
            </a:r>
            <a:r>
              <a:rPr dirty="0" sz="1300" spc="-245">
                <a:solidFill>
                  <a:srgbClr val="444444"/>
                </a:solidFill>
                <a:latin typeface="Arial Black"/>
                <a:cs typeface="Arial Black"/>
              </a:rPr>
              <a:t>Balanced</a:t>
            </a:r>
            <a:r>
              <a:rPr dirty="0" sz="1300" spc="65">
                <a:solidFill>
                  <a:srgbClr val="444444"/>
                </a:solidFill>
                <a:latin typeface="Arial Black"/>
                <a:cs typeface="Arial Black"/>
              </a:rPr>
              <a:t> </a:t>
            </a:r>
            <a:r>
              <a:rPr dirty="0" sz="1300" spc="-240">
                <a:solidFill>
                  <a:srgbClr val="3F3F3F"/>
                </a:solidFill>
                <a:latin typeface="Arial Black"/>
                <a:cs typeface="Arial Black"/>
              </a:rPr>
              <a:t>complexity</a:t>
            </a:r>
            <a:r>
              <a:rPr dirty="0" sz="1300" spc="55">
                <a:solidFill>
                  <a:srgbClr val="3F3F3F"/>
                </a:solidFill>
                <a:latin typeface="Arial Black"/>
                <a:cs typeface="Arial Black"/>
              </a:rPr>
              <a:t> </a:t>
            </a:r>
            <a:r>
              <a:rPr dirty="0" sz="1300" spc="-155">
                <a:solidFill>
                  <a:srgbClr val="464646"/>
                </a:solidFill>
                <a:latin typeface="Arial Black"/>
                <a:cs typeface="Arial Black"/>
              </a:rPr>
              <a:t>for</a:t>
            </a:r>
            <a:r>
              <a:rPr dirty="0" sz="1300" spc="-15">
                <a:solidFill>
                  <a:srgbClr val="464646"/>
                </a:solidFill>
                <a:latin typeface="Arial Black"/>
                <a:cs typeface="Arial Black"/>
              </a:rPr>
              <a:t> </a:t>
            </a:r>
            <a:r>
              <a:rPr dirty="0" sz="1300" spc="-204">
                <a:solidFill>
                  <a:srgbClr val="424242"/>
                </a:solidFill>
                <a:latin typeface="Arial Black"/>
                <a:cs typeface="Arial Black"/>
              </a:rPr>
              <a:t>pattern</a:t>
            </a:r>
            <a:r>
              <a:rPr dirty="0" sz="1300" spc="35">
                <a:solidFill>
                  <a:srgbClr val="424242"/>
                </a:solidFill>
                <a:latin typeface="Arial Black"/>
                <a:cs typeface="Arial Black"/>
              </a:rPr>
              <a:t> </a:t>
            </a:r>
            <a:r>
              <a:rPr dirty="0" sz="1300" spc="-185">
                <a:solidFill>
                  <a:srgbClr val="414141"/>
                </a:solidFill>
                <a:latin typeface="Arial Black"/>
                <a:cs typeface="Arial Black"/>
              </a:rPr>
              <a:t>retention</a:t>
            </a:r>
            <a:r>
              <a:rPr dirty="0" sz="1300" spc="25">
                <a:solidFill>
                  <a:srgbClr val="414141"/>
                </a:solidFill>
                <a:latin typeface="Arial Black"/>
                <a:cs typeface="Arial Black"/>
              </a:rPr>
              <a:t> </a:t>
            </a:r>
            <a:r>
              <a:rPr dirty="0" sz="1300" spc="-204">
                <a:solidFill>
                  <a:srgbClr val="4D4D4D"/>
                </a:solidFill>
                <a:latin typeface="Arial Black"/>
                <a:cs typeface="Arial Black"/>
              </a:rPr>
              <a:t>+</a:t>
            </a:r>
            <a:r>
              <a:rPr dirty="0" sz="1300" spc="-130">
                <a:solidFill>
                  <a:srgbClr val="4D4D4D"/>
                </a:solidFill>
                <a:latin typeface="Arial Black"/>
                <a:cs typeface="Arial Black"/>
              </a:rPr>
              <a:t> </a:t>
            </a:r>
            <a:r>
              <a:rPr dirty="0" sz="1300" spc="-160">
                <a:solidFill>
                  <a:srgbClr val="3B3B3B"/>
                </a:solidFill>
                <a:latin typeface="Arial Black"/>
                <a:cs typeface="Arial Black"/>
              </a:rPr>
              <a:t>generalization </a:t>
            </a:r>
            <a:r>
              <a:rPr dirty="0" sz="1300" spc="-360">
                <a:solidFill>
                  <a:srgbClr val="319049"/>
                </a:solidFill>
                <a:latin typeface="Arial Black"/>
                <a:cs typeface="Arial Black"/>
              </a:rPr>
              <a:t>I</a:t>
            </a:r>
            <a:endParaRPr sz="1300">
              <a:latin typeface="Arial Black"/>
              <a:cs typeface="Arial Black"/>
            </a:endParaRPr>
          </a:p>
          <a:p>
            <a:pPr algn="ctr" marR="27305">
              <a:lnSpc>
                <a:spcPct val="100000"/>
              </a:lnSpc>
              <a:spcBef>
                <a:spcPts val="1800"/>
              </a:spcBef>
            </a:pPr>
            <a:r>
              <a:rPr dirty="0" sz="1500" spc="-260">
                <a:solidFill>
                  <a:srgbClr val="3D3D3D"/>
                </a:solidFill>
                <a:latin typeface="Arial Black"/>
                <a:cs typeface="Arial Black"/>
              </a:rPr>
              <a:t>Model</a:t>
            </a:r>
            <a:r>
              <a:rPr dirty="0" sz="1500" spc="-120">
                <a:solidFill>
                  <a:srgbClr val="3D3D3D"/>
                </a:solidFill>
                <a:latin typeface="Arial Black"/>
                <a:cs typeface="Arial Black"/>
              </a:rPr>
              <a:t> </a:t>
            </a:r>
            <a:r>
              <a:rPr dirty="0" sz="1500" spc="-285">
                <a:solidFill>
                  <a:srgbClr val="3F3F3F"/>
                </a:solidFill>
                <a:latin typeface="Arial Black"/>
                <a:cs typeface="Arial Black"/>
              </a:rPr>
              <a:t>Complexity</a:t>
            </a:r>
            <a:endParaRPr sz="1500">
              <a:latin typeface="Arial Black"/>
              <a:cs typeface="Arial Black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8322074" y="3924271"/>
            <a:ext cx="1679575" cy="2311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50" spc="-220">
                <a:solidFill>
                  <a:srgbClr val="1A1A1A"/>
                </a:solidFill>
                <a:latin typeface="Arial Black"/>
                <a:cs typeface="Arial Black"/>
              </a:rPr>
              <a:t>Validation:</a:t>
            </a:r>
            <a:r>
              <a:rPr dirty="0" sz="1350" spc="-30">
                <a:solidFill>
                  <a:srgbClr val="1A1A1A"/>
                </a:solidFill>
                <a:latin typeface="Arial Black"/>
                <a:cs typeface="Arial Black"/>
              </a:rPr>
              <a:t> </a:t>
            </a:r>
            <a:r>
              <a:rPr dirty="0" sz="1350" spc="-229">
                <a:solidFill>
                  <a:srgbClr val="1A1A1A"/>
                </a:solidFill>
                <a:latin typeface="Arial Black"/>
                <a:cs typeface="Arial Black"/>
              </a:rPr>
              <a:t>0.47</a:t>
            </a:r>
            <a:r>
              <a:rPr dirty="0" sz="1350" spc="-80">
                <a:solidFill>
                  <a:srgbClr val="1A1A1A"/>
                </a:solidFill>
                <a:latin typeface="Arial Black"/>
                <a:cs typeface="Arial Black"/>
              </a:rPr>
              <a:t> </a:t>
            </a:r>
            <a:r>
              <a:rPr dirty="0" sz="1350" spc="-220">
                <a:solidFill>
                  <a:srgbClr val="1C1C1C"/>
                </a:solidFill>
                <a:latin typeface="Arial Black"/>
                <a:cs typeface="Arial Black"/>
              </a:rPr>
              <a:t>(50+</a:t>
            </a:r>
            <a:r>
              <a:rPr dirty="0" sz="1350" spc="-90">
                <a:solidFill>
                  <a:srgbClr val="1C1C1C"/>
                </a:solidFill>
                <a:latin typeface="Arial Black"/>
                <a:cs typeface="Arial Black"/>
              </a:rPr>
              <a:t> </a:t>
            </a:r>
            <a:r>
              <a:rPr dirty="0" sz="1350" spc="-175">
                <a:solidFill>
                  <a:srgbClr val="1F1F1F"/>
                </a:solidFill>
                <a:latin typeface="Arial Black"/>
                <a:cs typeface="Arial Black"/>
              </a:rPr>
              <a:t>fea</a:t>
            </a:r>
            <a:endParaRPr sz="1350">
              <a:latin typeface="Arial Black"/>
              <a:cs typeface="Arial Black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8320323" y="4159282"/>
            <a:ext cx="1233805" cy="2311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50" spc="-285">
                <a:solidFill>
                  <a:srgbClr val="464646"/>
                </a:solidFill>
                <a:latin typeface="Arial Black"/>
                <a:cs typeface="Arial Black"/>
              </a:rPr>
              <a:t>High</a:t>
            </a:r>
            <a:r>
              <a:rPr dirty="0" sz="1350" spc="-65">
                <a:solidFill>
                  <a:srgbClr val="464646"/>
                </a:solidFill>
                <a:latin typeface="Arial Black"/>
                <a:cs typeface="Arial Black"/>
              </a:rPr>
              <a:t> </a:t>
            </a:r>
            <a:r>
              <a:rPr dirty="0" sz="1350" spc="-295">
                <a:solidFill>
                  <a:srgbClr val="3F3F3F"/>
                </a:solidFill>
                <a:latin typeface="Arial Black"/>
                <a:cs typeface="Arial Black"/>
              </a:rPr>
              <a:t>Vąriance</a:t>
            </a:r>
            <a:r>
              <a:rPr dirty="0" sz="1350" spc="-15">
                <a:solidFill>
                  <a:srgbClr val="3F3F3F"/>
                </a:solidFill>
                <a:latin typeface="Arial Black"/>
                <a:cs typeface="Arial Black"/>
              </a:rPr>
              <a:t> </a:t>
            </a:r>
            <a:r>
              <a:rPr dirty="0" sz="1350" spc="-320">
                <a:solidFill>
                  <a:srgbClr val="545454"/>
                </a:solidFill>
                <a:latin typeface="Arial Black"/>
                <a:cs typeface="Arial Black"/>
              </a:rPr>
              <a:t>Risg</a:t>
            </a:r>
            <a:endParaRPr sz="1350">
              <a:latin typeface="Arial Black"/>
              <a:cs typeface="Arial Black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7953629" y="4296760"/>
            <a:ext cx="1584960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spc="-220">
                <a:solidFill>
                  <a:srgbClr val="1844E6"/>
                </a:solidFill>
                <a:latin typeface="Arial Black"/>
                <a:cs typeface="Arial Black"/>
              </a:rPr>
              <a:t>Total</a:t>
            </a:r>
            <a:r>
              <a:rPr dirty="0" sz="1400" spc="-25">
                <a:solidFill>
                  <a:srgbClr val="1844E6"/>
                </a:solidFill>
                <a:latin typeface="Arial Black"/>
                <a:cs typeface="Arial Black"/>
              </a:rPr>
              <a:t> </a:t>
            </a:r>
            <a:r>
              <a:rPr dirty="0" sz="1400" spc="-280">
                <a:solidFill>
                  <a:srgbClr val="2342D4"/>
                </a:solidFill>
                <a:latin typeface="Arial Black"/>
                <a:cs typeface="Arial Black"/>
              </a:rPr>
              <a:t>Error</a:t>
            </a:r>
            <a:r>
              <a:rPr dirty="0" sz="1400" spc="160">
                <a:solidFill>
                  <a:srgbClr val="2342D4"/>
                </a:solidFill>
                <a:latin typeface="Arial Black"/>
                <a:cs typeface="Arial Black"/>
              </a:rPr>
              <a:t> </a:t>
            </a:r>
            <a:r>
              <a:rPr dirty="0" sz="1400" spc="-240">
                <a:solidFill>
                  <a:srgbClr val="3654C3"/>
                </a:solidFill>
                <a:latin typeface="Arial Black"/>
                <a:cs typeface="Arial Black"/>
              </a:rPr>
              <a:t>(Log</a:t>
            </a:r>
            <a:r>
              <a:rPr dirty="0" sz="1400" spc="-15">
                <a:solidFill>
                  <a:srgbClr val="3654C3"/>
                </a:solidFill>
                <a:latin typeface="Arial Black"/>
                <a:cs typeface="Arial Black"/>
              </a:rPr>
              <a:t> </a:t>
            </a:r>
            <a:r>
              <a:rPr dirty="0" sz="1400" spc="-210">
                <a:solidFill>
                  <a:srgbClr val="2F4BD3"/>
                </a:solidFill>
                <a:latin typeface="Arial Black"/>
                <a:cs typeface="Arial Black"/>
              </a:rPr>
              <a:t>Loss)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8123382" y="5985497"/>
            <a:ext cx="1577340" cy="601980"/>
          </a:xfrm>
          <a:prstGeom prst="rect">
            <a:avLst/>
          </a:prstGeom>
        </p:spPr>
        <p:txBody>
          <a:bodyPr wrap="square" lIns="0" tIns="81915" rIns="0" bIns="0" rtlCol="0" vert="horz">
            <a:spAutoFit/>
          </a:bodyPr>
          <a:lstStyle/>
          <a:p>
            <a:pPr marL="327025">
              <a:lnSpc>
                <a:spcPct val="100000"/>
              </a:lnSpc>
              <a:spcBef>
                <a:spcPts val="645"/>
              </a:spcBef>
            </a:pPr>
            <a:r>
              <a:rPr dirty="0" sz="1500" spc="-260">
                <a:solidFill>
                  <a:srgbClr val="3F3F3F"/>
                </a:solidFill>
                <a:latin typeface="Arial Black"/>
                <a:cs typeface="Arial Black"/>
              </a:rPr>
              <a:t>High</a:t>
            </a:r>
            <a:r>
              <a:rPr dirty="0" sz="1500" spc="-150">
                <a:solidFill>
                  <a:srgbClr val="3F3F3F"/>
                </a:solidFill>
                <a:latin typeface="Arial Black"/>
                <a:cs typeface="Arial Black"/>
              </a:rPr>
              <a:t> </a:t>
            </a:r>
            <a:r>
              <a:rPr dirty="0" sz="1500" spc="-285">
                <a:solidFill>
                  <a:srgbClr val="3D3D3D"/>
                </a:solidFill>
                <a:latin typeface="Arial Black"/>
                <a:cs typeface="Arial Black"/>
              </a:rPr>
              <a:t>Complexity</a:t>
            </a:r>
            <a:endParaRPr sz="15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dirty="0" sz="1400" spc="-90">
                <a:solidFill>
                  <a:srgbClr val="3F3F3F"/>
                </a:solidFill>
                <a:latin typeface="Arial Black"/>
                <a:cs typeface="Arial Black"/>
              </a:rPr>
              <a:t>(Overfitting)</a:t>
            </a:r>
            <a:endParaRPr sz="14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19033" y="2982022"/>
            <a:ext cx="375315" cy="333223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17982" y="2957469"/>
            <a:ext cx="385838" cy="378822"/>
          </a:xfrm>
          <a:prstGeom prst="rect">
            <a:avLst/>
          </a:prstGeom>
        </p:spPr>
      </p:pic>
      <p:grpSp>
        <p:nvGrpSpPr>
          <p:cNvPr id="4" name="object 4" descr=""/>
          <p:cNvGrpSpPr/>
          <p:nvPr/>
        </p:nvGrpSpPr>
        <p:grpSpPr>
          <a:xfrm>
            <a:off x="201022" y="413275"/>
            <a:ext cx="10313670" cy="6706234"/>
            <a:chOff x="201022" y="413275"/>
            <a:chExt cx="10313670" cy="6706234"/>
          </a:xfrm>
        </p:grpSpPr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1022" y="438998"/>
              <a:ext cx="10301876" cy="536665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204179" y="413275"/>
              <a:ext cx="0" cy="6706234"/>
            </a:xfrm>
            <a:custGeom>
              <a:avLst/>
              <a:gdLst/>
              <a:ahLst/>
              <a:cxnLst/>
              <a:rect l="l" t="t" r="r" b="b"/>
              <a:pathLst>
                <a:path w="0" h="6706234">
                  <a:moveTo>
                    <a:pt x="0" y="670609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202659" y="7114814"/>
              <a:ext cx="10311765" cy="0"/>
            </a:xfrm>
            <a:custGeom>
              <a:avLst/>
              <a:gdLst/>
              <a:ahLst/>
              <a:cxnLst/>
              <a:rect l="l" t="t" r="r" b="b"/>
              <a:pathLst>
                <a:path w="10311765" h="0">
                  <a:moveTo>
                    <a:pt x="0" y="0"/>
                  </a:moveTo>
                  <a:lnTo>
                    <a:pt x="103114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202659" y="6792580"/>
              <a:ext cx="10311765" cy="0"/>
            </a:xfrm>
            <a:custGeom>
              <a:avLst/>
              <a:gdLst/>
              <a:ahLst/>
              <a:cxnLst/>
              <a:rect l="l" t="t" r="r" b="b"/>
              <a:pathLst>
                <a:path w="10311765" h="0">
                  <a:moveTo>
                    <a:pt x="0" y="0"/>
                  </a:moveTo>
                  <a:lnTo>
                    <a:pt x="103114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202659" y="983264"/>
              <a:ext cx="10311765" cy="0"/>
            </a:xfrm>
            <a:custGeom>
              <a:avLst/>
              <a:gdLst/>
              <a:ahLst/>
              <a:cxnLst/>
              <a:rect l="l" t="t" r="r" b="b"/>
              <a:pathLst>
                <a:path w="10311765" h="0">
                  <a:moveTo>
                    <a:pt x="0" y="0"/>
                  </a:moveTo>
                  <a:lnTo>
                    <a:pt x="103114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202659" y="433036"/>
              <a:ext cx="10311765" cy="0"/>
            </a:xfrm>
            <a:custGeom>
              <a:avLst/>
              <a:gdLst/>
              <a:ahLst/>
              <a:cxnLst/>
              <a:rect l="l" t="t" r="r" b="b"/>
              <a:pathLst>
                <a:path w="10311765" h="0">
                  <a:moveTo>
                    <a:pt x="0" y="0"/>
                  </a:moveTo>
                  <a:lnTo>
                    <a:pt x="103114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44653" rIns="0" bIns="0" rtlCol="0" vert="horz">
            <a:spAutoFit/>
          </a:bodyPr>
          <a:lstStyle/>
          <a:p>
            <a:pPr marL="15875">
              <a:lnSpc>
                <a:spcPct val="100000"/>
              </a:lnSpc>
              <a:spcBef>
                <a:spcPts val="90"/>
              </a:spcBef>
            </a:pPr>
            <a:r>
              <a:rPr dirty="0" spc="-160"/>
              <a:t>Key</a:t>
            </a:r>
            <a:r>
              <a:rPr dirty="0" spc="-10"/>
              <a:t> </a:t>
            </a:r>
            <a:r>
              <a:rPr dirty="0" spc="-145"/>
              <a:t>Model</a:t>
            </a:r>
            <a:r>
              <a:rPr dirty="0" spc="-10"/>
              <a:t> </a:t>
            </a:r>
            <a:r>
              <a:rPr dirty="0" spc="-90">
                <a:solidFill>
                  <a:srgbClr val="151515"/>
                </a:solidFill>
              </a:rPr>
              <a:t>Insights</a:t>
            </a:r>
          </a:p>
        </p:txBody>
      </p:sp>
      <p:sp>
        <p:nvSpPr>
          <p:cNvPr id="12" name="object 12" descr=""/>
          <p:cNvSpPr txBox="1"/>
          <p:nvPr/>
        </p:nvSpPr>
        <p:spPr>
          <a:xfrm>
            <a:off x="906106" y="3503941"/>
            <a:ext cx="2420620" cy="83311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50" spc="-110">
                <a:solidFill>
                  <a:srgbClr val="182879"/>
                </a:solidFill>
                <a:latin typeface="Arial"/>
                <a:cs typeface="Arial"/>
              </a:rPr>
              <a:t>BEHAVIOR</a:t>
            </a:r>
            <a:r>
              <a:rPr dirty="0" sz="1650" spc="30">
                <a:solidFill>
                  <a:srgbClr val="182879"/>
                </a:solidFill>
                <a:latin typeface="Arial"/>
                <a:cs typeface="Arial"/>
              </a:rPr>
              <a:t> </a:t>
            </a:r>
            <a:r>
              <a:rPr dirty="0" sz="1650" spc="-130">
                <a:solidFill>
                  <a:srgbClr val="1F3377"/>
                </a:solidFill>
                <a:latin typeface="Arial"/>
                <a:cs typeface="Arial"/>
              </a:rPr>
              <a:t>BEATS</a:t>
            </a:r>
            <a:r>
              <a:rPr dirty="0" sz="1650" spc="-15">
                <a:solidFill>
                  <a:srgbClr val="1F3377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1A2B69"/>
                </a:solidFill>
                <a:latin typeface="Arial"/>
                <a:cs typeface="Arial"/>
              </a:rPr>
              <a:t>PRICE</a:t>
            </a:r>
            <a:endParaRPr sz="1650">
              <a:latin typeface="Arial"/>
              <a:cs typeface="Arial"/>
            </a:endParaRPr>
          </a:p>
          <a:p>
            <a:pPr marL="254635" marR="5080" indent="3175">
              <a:lnSpc>
                <a:spcPct val="151200"/>
              </a:lnSpc>
              <a:spcBef>
                <a:spcPts val="570"/>
              </a:spcBef>
            </a:pPr>
            <a:r>
              <a:rPr dirty="0" sz="1050" spc="-125">
                <a:solidFill>
                  <a:srgbClr val="18237C"/>
                </a:solidFill>
                <a:latin typeface="Arial"/>
                <a:cs typeface="Arial"/>
              </a:rPr>
              <a:t>629’»</a:t>
            </a:r>
            <a:r>
              <a:rPr dirty="0" sz="1050" spc="-30">
                <a:solidFill>
                  <a:srgbClr val="18237C"/>
                </a:solidFill>
                <a:latin typeface="Arial"/>
                <a:cs typeface="Arial"/>
              </a:rPr>
              <a:t> </a:t>
            </a:r>
            <a:r>
              <a:rPr dirty="0" sz="1050" spc="-25">
                <a:solidFill>
                  <a:srgbClr val="232323"/>
                </a:solidFill>
                <a:latin typeface="Arial"/>
                <a:cs typeface="Arial"/>
              </a:rPr>
              <a:t>predictive</a:t>
            </a:r>
            <a:r>
              <a:rPr dirty="0" sz="1050" spc="-35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62626"/>
                </a:solidFill>
                <a:latin typeface="Arial"/>
                <a:cs typeface="Arial"/>
              </a:rPr>
              <a:t>power</a:t>
            </a:r>
            <a:r>
              <a:rPr dirty="0" sz="1050" spc="-15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F2F2F"/>
                </a:solidFill>
                <a:latin typeface="Arial"/>
                <a:cs typeface="Arial"/>
              </a:rPr>
              <a:t>from</a:t>
            </a:r>
            <a:r>
              <a:rPr dirty="0" sz="1050" spc="-30">
                <a:solidFill>
                  <a:srgbClr val="2F2F2F"/>
                </a:solidFill>
                <a:latin typeface="Arial"/>
                <a:cs typeface="Arial"/>
              </a:rPr>
              <a:t> </a:t>
            </a:r>
            <a:r>
              <a:rPr dirty="0" sz="1050" spc="-20">
                <a:solidFill>
                  <a:srgbClr val="242424"/>
                </a:solidFill>
                <a:latin typeface="Arial"/>
                <a:cs typeface="Arial"/>
              </a:rPr>
              <a:t>behavioral </a:t>
            </a:r>
            <a:r>
              <a:rPr dirty="0" sz="1050" spc="-10">
                <a:solidFill>
                  <a:srgbClr val="2F2F2F"/>
                </a:solidFill>
                <a:latin typeface="Arial"/>
                <a:cs typeface="Arial"/>
              </a:rPr>
              <a:t>features</a:t>
            </a:r>
            <a:endParaRPr sz="1050">
              <a:latin typeface="Arial"/>
              <a:cs typeface="Arial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145991" y="4484223"/>
            <a:ext cx="139890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40">
                <a:solidFill>
                  <a:srgbClr val="283D80"/>
                </a:solidFill>
                <a:latin typeface="Arial"/>
                <a:cs typeface="Arial"/>
              </a:rPr>
              <a:t>&lt;9•/«</a:t>
            </a:r>
            <a:r>
              <a:rPr dirty="0" sz="1000" spc="-45">
                <a:solidFill>
                  <a:srgbClr val="283D8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F2F2F"/>
                </a:solidFill>
                <a:latin typeface="Arial"/>
                <a:cs typeface="Arial"/>
              </a:rPr>
              <a:t>from</a:t>
            </a:r>
            <a:r>
              <a:rPr dirty="0" sz="1000" spc="10">
                <a:solidFill>
                  <a:srgbClr val="2F2F2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A2A2A"/>
                </a:solidFill>
                <a:latin typeface="Arial"/>
                <a:cs typeface="Arial"/>
              </a:rPr>
              <a:t>price </a:t>
            </a:r>
            <a:r>
              <a:rPr dirty="0" sz="1000" spc="-10">
                <a:solidFill>
                  <a:srgbClr val="282828"/>
                </a:solidFill>
                <a:latin typeface="Arial"/>
                <a:cs typeface="Arial"/>
              </a:rPr>
              <a:t>features</a:t>
            </a:r>
            <a:endParaRPr sz="1000">
              <a:latin typeface="Arial"/>
              <a:cs typeface="Arial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151619" y="4753236"/>
            <a:ext cx="2206625" cy="4959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46900"/>
              </a:lnSpc>
              <a:spcBef>
                <a:spcPts val="100"/>
              </a:spcBef>
            </a:pPr>
            <a:r>
              <a:rPr dirty="0" sz="1050" spc="-30">
                <a:solidFill>
                  <a:srgbClr val="2A2A2A"/>
                </a:solidFill>
                <a:latin typeface="Arial"/>
                <a:cs typeface="Arial"/>
              </a:rPr>
              <a:t>action_lag_1</a:t>
            </a:r>
            <a:r>
              <a:rPr dirty="0" sz="1050" spc="6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dirty="0" sz="1050" spc="-20">
                <a:solidFill>
                  <a:srgbClr val="282828"/>
                </a:solidFill>
                <a:latin typeface="Arial"/>
                <a:cs typeface="Arial"/>
              </a:rPr>
              <a:t>alone:</a:t>
            </a:r>
            <a:r>
              <a:rPr dirty="0" sz="1050" spc="-5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050" spc="-130">
                <a:solidFill>
                  <a:srgbClr val="152669"/>
                </a:solidFill>
                <a:latin typeface="Arial"/>
                <a:cs typeface="Arial"/>
              </a:rPr>
              <a:t>21.4%»</a:t>
            </a:r>
            <a:r>
              <a:rPr dirty="0" sz="1050">
                <a:solidFill>
                  <a:srgbClr val="152669"/>
                </a:solidFill>
                <a:latin typeface="Arial"/>
                <a:cs typeface="Arial"/>
              </a:rPr>
              <a:t> </a:t>
            </a:r>
            <a:r>
              <a:rPr dirty="0" sz="1050" spc="-30">
                <a:solidFill>
                  <a:srgbClr val="282828"/>
                </a:solidFill>
                <a:latin typeface="Arial"/>
                <a:cs typeface="Arial"/>
              </a:rPr>
              <a:t>(more</a:t>
            </a:r>
            <a:r>
              <a:rPr dirty="0" sz="1050" spc="-2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050" spc="-20">
                <a:solidFill>
                  <a:srgbClr val="2F2F2F"/>
                </a:solidFill>
                <a:latin typeface="Arial"/>
                <a:cs typeface="Arial"/>
              </a:rPr>
              <a:t>than </a:t>
            </a:r>
            <a:r>
              <a:rPr dirty="0" sz="1050" spc="-10">
                <a:solidFill>
                  <a:srgbClr val="282828"/>
                </a:solidFill>
                <a:latin typeface="Arial"/>
                <a:cs typeface="Arial"/>
              </a:rPr>
              <a:t>all</a:t>
            </a:r>
            <a:r>
              <a:rPr dirty="0" sz="1050" spc="-85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050" spc="-20">
                <a:solidFill>
                  <a:srgbClr val="2D2D2D"/>
                </a:solidFill>
                <a:latin typeface="Arial"/>
                <a:cs typeface="Arial"/>
              </a:rPr>
              <a:t>price</a:t>
            </a:r>
            <a:r>
              <a:rPr dirty="0" sz="1050" spc="-25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dirty="0" sz="1050" spc="-20">
                <a:solidFill>
                  <a:srgbClr val="282828"/>
                </a:solidFill>
                <a:latin typeface="Arial"/>
                <a:cs typeface="Arial"/>
              </a:rPr>
              <a:t>features</a:t>
            </a:r>
            <a:r>
              <a:rPr dirty="0" sz="1050" spc="5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42424"/>
                </a:solidFill>
                <a:latin typeface="Arial"/>
                <a:cs typeface="Arial"/>
              </a:rPr>
              <a:t>combined)</a:t>
            </a:r>
            <a:endParaRPr sz="1050">
              <a:latin typeface="Arial"/>
              <a:cs typeface="Arial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4107468" y="3507448"/>
            <a:ext cx="2246630" cy="8509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50" spc="-114">
                <a:solidFill>
                  <a:srgbClr val="18285B"/>
                </a:solidFill>
                <a:latin typeface="Arial"/>
                <a:cs typeface="Arial"/>
              </a:rPr>
              <a:t>STRATEGIC</a:t>
            </a:r>
            <a:r>
              <a:rPr dirty="0" sz="1650" spc="25">
                <a:solidFill>
                  <a:srgbClr val="18285B"/>
                </a:solidFill>
                <a:latin typeface="Arial"/>
                <a:cs typeface="Arial"/>
              </a:rPr>
              <a:t> </a:t>
            </a:r>
            <a:r>
              <a:rPr dirty="0" sz="1650" spc="-85">
                <a:solidFill>
                  <a:srgbClr val="1C2A70"/>
                </a:solidFill>
                <a:latin typeface="Arial"/>
                <a:cs typeface="Arial"/>
              </a:rPr>
              <a:t>SELECTION</a:t>
            </a:r>
            <a:endParaRPr sz="1650">
              <a:latin typeface="Arial"/>
              <a:cs typeface="Arial"/>
            </a:endParaRPr>
          </a:p>
          <a:p>
            <a:pPr marL="248285" marR="362585" indent="4445">
              <a:lnSpc>
                <a:spcPct val="153400"/>
              </a:lnSpc>
              <a:spcBef>
                <a:spcPts val="655"/>
              </a:spcBef>
            </a:pPr>
            <a:r>
              <a:rPr dirty="0" sz="1050" spc="-10">
                <a:solidFill>
                  <a:srgbClr val="18237C"/>
                </a:solidFill>
                <a:latin typeface="Arial"/>
                <a:cs typeface="Arial"/>
              </a:rPr>
              <a:t>25</a:t>
            </a:r>
            <a:r>
              <a:rPr dirty="0" sz="1050">
                <a:solidFill>
                  <a:srgbClr val="18237C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C2D74"/>
                </a:solidFill>
                <a:latin typeface="Arial"/>
                <a:cs typeface="Arial"/>
              </a:rPr>
              <a:t>features</a:t>
            </a:r>
            <a:r>
              <a:rPr dirty="0" sz="1050" spc="180">
                <a:solidFill>
                  <a:srgbClr val="1C2D74"/>
                </a:solidFill>
                <a:latin typeface="Arial"/>
                <a:cs typeface="Arial"/>
              </a:rPr>
              <a:t> </a:t>
            </a:r>
            <a:r>
              <a:rPr dirty="0" sz="1050" spc="-459">
                <a:solidFill>
                  <a:srgbClr val="2B2B2B"/>
                </a:solidFill>
                <a:latin typeface="Arial"/>
                <a:cs typeface="Arial"/>
              </a:rPr>
              <a:t>—</a:t>
            </a:r>
            <a:r>
              <a:rPr dirty="0" sz="1050" spc="-165">
                <a:solidFill>
                  <a:srgbClr val="2B2B2B"/>
                </a:solidFill>
                <a:latin typeface="Arial"/>
                <a:cs typeface="Arial"/>
              </a:rPr>
              <a:t>•</a:t>
            </a:r>
            <a:r>
              <a:rPr dirty="0" sz="1050" spc="105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dirty="0" sz="1050" spc="-95">
                <a:solidFill>
                  <a:srgbClr val="1C3175"/>
                </a:solidFill>
                <a:latin typeface="Arial"/>
                <a:cs typeface="Arial"/>
              </a:rPr>
              <a:t>85.39’»</a:t>
            </a:r>
            <a:r>
              <a:rPr dirty="0" sz="1050" spc="20">
                <a:solidFill>
                  <a:srgbClr val="1C3175"/>
                </a:solidFill>
                <a:latin typeface="Arial"/>
                <a:cs typeface="Arial"/>
              </a:rPr>
              <a:t> </a:t>
            </a:r>
            <a:r>
              <a:rPr dirty="0" sz="1050" spc="-35">
                <a:solidFill>
                  <a:srgbClr val="242424"/>
                </a:solidFill>
                <a:latin typeface="Arial"/>
                <a:cs typeface="Arial"/>
              </a:rPr>
              <a:t>power </a:t>
            </a:r>
            <a:r>
              <a:rPr dirty="0" sz="1050" spc="-10">
                <a:solidFill>
                  <a:srgbClr val="2A2A2A"/>
                </a:solidFill>
                <a:latin typeface="Arial"/>
                <a:cs typeface="Arial"/>
              </a:rPr>
              <a:t>preserved</a:t>
            </a:r>
            <a:endParaRPr sz="1050">
              <a:latin typeface="Arial"/>
              <a:cs typeface="Arial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4346084" y="4375312"/>
            <a:ext cx="1821180" cy="528955"/>
          </a:xfrm>
          <a:prstGeom prst="rect">
            <a:avLst/>
          </a:prstGeom>
        </p:spPr>
        <p:txBody>
          <a:bodyPr wrap="square" lIns="0" tIns="1085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dirty="0" sz="1100">
                <a:solidFill>
                  <a:srgbClr val="112362"/>
                </a:solidFill>
                <a:latin typeface="Arial"/>
                <a:cs typeface="Arial"/>
              </a:rPr>
              <a:t>50'«</a:t>
            </a:r>
            <a:r>
              <a:rPr dirty="0" sz="1100" spc="-85">
                <a:solidFill>
                  <a:srgbClr val="112362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A265D"/>
                </a:solidFill>
                <a:latin typeface="Arial"/>
                <a:cs typeface="Arial"/>
              </a:rPr>
              <a:t>less</a:t>
            </a:r>
            <a:r>
              <a:rPr dirty="0" sz="1100" spc="-60">
                <a:solidFill>
                  <a:srgbClr val="1A265D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A2869"/>
                </a:solidFill>
                <a:latin typeface="Arial"/>
                <a:cs typeface="Arial"/>
              </a:rPr>
              <a:t>complexity</a:t>
            </a:r>
            <a:r>
              <a:rPr dirty="0" sz="1100" spc="114">
                <a:solidFill>
                  <a:srgbClr val="1A2869"/>
                </a:solidFill>
                <a:latin typeface="Arial"/>
                <a:cs typeface="Arial"/>
              </a:rPr>
              <a:t> </a:t>
            </a:r>
            <a:r>
              <a:rPr dirty="0" sz="1100" spc="-50">
                <a:solidFill>
                  <a:srgbClr val="262626"/>
                </a:solidFill>
                <a:latin typeface="Arial"/>
                <a:cs typeface="Arial"/>
              </a:rPr>
              <a:t>than</a:t>
            </a:r>
            <a:r>
              <a:rPr dirty="0" sz="1100" spc="-25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1100" spc="-25">
                <a:solidFill>
                  <a:srgbClr val="2A2A2A"/>
                </a:solidFill>
                <a:latin typeface="Arial"/>
                <a:cs typeface="Arial"/>
              </a:rPr>
              <a:t>50+</a:t>
            </a:r>
            <a:endParaRPr sz="1100">
              <a:latin typeface="Arial"/>
              <a:cs typeface="Arial"/>
            </a:endParaRPr>
          </a:p>
          <a:p>
            <a:pPr marL="13335">
              <a:lnSpc>
                <a:spcPct val="100000"/>
              </a:lnSpc>
              <a:spcBef>
                <a:spcPts val="685"/>
              </a:spcBef>
            </a:pPr>
            <a:r>
              <a:rPr dirty="0" sz="1000" spc="-10">
                <a:solidFill>
                  <a:srgbClr val="282828"/>
                </a:solidFill>
                <a:latin typeface="Arial"/>
                <a:cs typeface="Arial"/>
              </a:rPr>
              <a:t>features</a:t>
            </a:r>
            <a:endParaRPr sz="1000">
              <a:latin typeface="Arial"/>
              <a:cs typeface="Arial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4347451" y="4963693"/>
            <a:ext cx="1909445" cy="5099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810">
              <a:lnSpc>
                <a:spcPct val="151200"/>
              </a:lnSpc>
              <a:spcBef>
                <a:spcPts val="100"/>
              </a:spcBef>
            </a:pPr>
            <a:r>
              <a:rPr dirty="0" sz="1050" spc="-35">
                <a:solidFill>
                  <a:srgbClr val="212121"/>
                </a:solidFill>
                <a:latin typeface="Arial"/>
                <a:cs typeface="Arial"/>
              </a:rPr>
              <a:t>Validation</a:t>
            </a:r>
            <a:r>
              <a:rPr dirty="0" sz="1050" spc="-2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1050" spc="-25">
                <a:solidFill>
                  <a:srgbClr val="2A2A2A"/>
                </a:solidFill>
                <a:latin typeface="Arial"/>
                <a:cs typeface="Arial"/>
              </a:rPr>
              <a:t>improved</a:t>
            </a:r>
            <a:r>
              <a:rPr dirty="0" sz="1050" spc="-1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dirty="0" sz="1050" spc="-30">
                <a:solidFill>
                  <a:srgbClr val="3A3A3A"/>
                </a:solidFill>
                <a:latin typeface="Arial"/>
                <a:cs typeface="Arial"/>
              </a:rPr>
              <a:t>to</a:t>
            </a:r>
            <a:r>
              <a:rPr dirty="0" sz="1050" spc="-45">
                <a:solidFill>
                  <a:srgbClr val="3A3A3A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5235D"/>
                </a:solidFill>
                <a:latin typeface="Arial"/>
                <a:cs typeface="Arial"/>
              </a:rPr>
              <a:t>0.61</a:t>
            </a:r>
            <a:r>
              <a:rPr dirty="0" sz="1050" spc="-50">
                <a:solidFill>
                  <a:srgbClr val="15235D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82828"/>
                </a:solidFill>
                <a:latin typeface="Arial"/>
                <a:cs typeface="Arial"/>
              </a:rPr>
              <a:t>(from </a:t>
            </a:r>
            <a:r>
              <a:rPr dirty="0" sz="1050" spc="-25">
                <a:solidFill>
                  <a:srgbClr val="2A2A2A"/>
                </a:solidFill>
                <a:latin typeface="Arial"/>
                <a:cs typeface="Arial"/>
              </a:rPr>
              <a:t>overfitting</a:t>
            </a:r>
            <a:r>
              <a:rPr dirty="0" sz="1050" spc="5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333333"/>
                </a:solidFill>
                <a:latin typeface="Arial"/>
                <a:cs typeface="Arial"/>
              </a:rPr>
              <a:t>risk)</a:t>
            </a:r>
            <a:endParaRPr sz="1050">
              <a:latin typeface="Arial"/>
              <a:cs typeface="Arial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7303186" y="3507448"/>
            <a:ext cx="2282190" cy="8509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50" spc="-110">
                <a:solidFill>
                  <a:srgbClr val="1A2372"/>
                </a:solidFill>
                <a:latin typeface="Arial"/>
                <a:cs typeface="Arial"/>
              </a:rPr>
              <a:t>PRACTICAL</a:t>
            </a:r>
            <a:r>
              <a:rPr dirty="0" sz="1650" spc="50">
                <a:solidFill>
                  <a:srgbClr val="1A2372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182A83"/>
                </a:solidFill>
                <a:latin typeface="Arial"/>
                <a:cs typeface="Arial"/>
              </a:rPr>
              <a:t>WISDOM</a:t>
            </a:r>
            <a:endParaRPr sz="1650">
              <a:latin typeface="Arial"/>
              <a:cs typeface="Arial"/>
            </a:endParaRPr>
          </a:p>
          <a:p>
            <a:pPr marL="251460" marR="5080" indent="5080">
              <a:lnSpc>
                <a:spcPct val="153400"/>
              </a:lnSpc>
              <a:spcBef>
                <a:spcPts val="655"/>
              </a:spcBef>
            </a:pPr>
            <a:r>
              <a:rPr dirty="0" sz="1050" spc="-35">
                <a:solidFill>
                  <a:srgbClr val="262626"/>
                </a:solidFill>
                <a:latin typeface="Arial"/>
                <a:cs typeface="Arial"/>
              </a:rPr>
              <a:t>Accepted</a:t>
            </a:r>
            <a:r>
              <a:rPr dirty="0" sz="1050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1050" spc="-35">
                <a:solidFill>
                  <a:srgbClr val="1F2B60"/>
                </a:solidFill>
                <a:latin typeface="Arial"/>
                <a:cs typeface="Arial"/>
              </a:rPr>
              <a:t>0.11</a:t>
            </a:r>
            <a:r>
              <a:rPr dirty="0" sz="1050" spc="-20">
                <a:solidFill>
                  <a:srgbClr val="1F2B60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52B60"/>
                </a:solidFill>
                <a:latin typeface="Arial"/>
                <a:cs typeface="Arial"/>
              </a:rPr>
              <a:t>gap</a:t>
            </a:r>
            <a:r>
              <a:rPr dirty="0" sz="1050" spc="-50">
                <a:solidFill>
                  <a:srgbClr val="152B60"/>
                </a:solidFill>
                <a:latin typeface="Arial"/>
                <a:cs typeface="Arial"/>
              </a:rPr>
              <a:t> </a:t>
            </a:r>
            <a:r>
              <a:rPr dirty="0" sz="1050" spc="-80">
                <a:solidFill>
                  <a:srgbClr val="262626"/>
                </a:solidFill>
                <a:latin typeface="Arial"/>
                <a:cs typeface="Arial"/>
              </a:rPr>
              <a:t>(0.61—</a:t>
            </a:r>
            <a:r>
              <a:rPr dirty="0" sz="1050" spc="-40">
                <a:solidFill>
                  <a:srgbClr val="262626"/>
                </a:solidFill>
                <a:latin typeface="Arial"/>
                <a:cs typeface="Arial"/>
              </a:rPr>
              <a:t>•0.72)</a:t>
            </a:r>
            <a:r>
              <a:rPr dirty="0" sz="1050" spc="120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1050" spc="-25">
                <a:solidFill>
                  <a:srgbClr val="282828"/>
                </a:solidFill>
                <a:latin typeface="Arial"/>
                <a:cs typeface="Arial"/>
              </a:rPr>
              <a:t>for </a:t>
            </a:r>
            <a:r>
              <a:rPr dirty="0" sz="1050" spc="-30">
                <a:solidFill>
                  <a:srgbClr val="2D2D2D"/>
                </a:solidFill>
                <a:latin typeface="Arial"/>
                <a:cs typeface="Arial"/>
              </a:rPr>
              <a:t>real-</a:t>
            </a:r>
            <a:r>
              <a:rPr dirty="0" sz="1050" spc="-20">
                <a:solidFill>
                  <a:srgbClr val="2D2D2D"/>
                </a:solidFill>
                <a:latin typeface="Arial"/>
                <a:cs typeface="Arial"/>
              </a:rPr>
              <a:t>world</a:t>
            </a:r>
            <a:r>
              <a:rPr dirty="0" sz="1050" spc="-1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32323"/>
                </a:solidFill>
                <a:latin typeface="Arial"/>
                <a:cs typeface="Arial"/>
              </a:rPr>
              <a:t>adaptation</a:t>
            </a:r>
            <a:endParaRPr sz="1050">
              <a:latin typeface="Arial"/>
              <a:cs typeface="Arial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7542048" y="4395461"/>
            <a:ext cx="2233295" cy="5099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5080">
              <a:lnSpc>
                <a:spcPct val="151200"/>
              </a:lnSpc>
              <a:spcBef>
                <a:spcPts val="100"/>
              </a:spcBef>
            </a:pPr>
            <a:r>
              <a:rPr dirty="0" sz="1050" spc="-35">
                <a:solidFill>
                  <a:srgbClr val="282828"/>
                </a:solidFill>
                <a:latin typeface="Arial"/>
                <a:cs typeface="Arial"/>
              </a:rPr>
              <a:t>Avoided</a:t>
            </a:r>
            <a:r>
              <a:rPr dirty="0" sz="1050" spc="-4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050" spc="-25">
                <a:solidFill>
                  <a:srgbClr val="2A2A2A"/>
                </a:solidFill>
                <a:latin typeface="Arial"/>
                <a:cs typeface="Arial"/>
              </a:rPr>
              <a:t>potential</a:t>
            </a:r>
            <a:r>
              <a:rPr dirty="0" sz="1050" spc="5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dirty="0" sz="1050" spc="-20">
                <a:solidFill>
                  <a:srgbClr val="1A1F7C"/>
                </a:solidFill>
                <a:latin typeface="Arial"/>
                <a:cs typeface="Arial"/>
              </a:rPr>
              <a:t>0.80+</a:t>
            </a:r>
            <a:r>
              <a:rPr dirty="0" sz="1050" spc="-60">
                <a:solidFill>
                  <a:srgbClr val="1A1F7C"/>
                </a:solidFill>
                <a:latin typeface="Arial"/>
                <a:cs typeface="Arial"/>
              </a:rPr>
              <a:t> </a:t>
            </a:r>
            <a:r>
              <a:rPr dirty="0" sz="1050" spc="-20">
                <a:solidFill>
                  <a:srgbClr val="262626"/>
                </a:solidFill>
                <a:latin typeface="Arial"/>
                <a:cs typeface="Arial"/>
              </a:rPr>
              <a:t>overfitting</a:t>
            </a:r>
            <a:r>
              <a:rPr dirty="0" sz="1050" spc="60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1050" spc="-20">
                <a:solidFill>
                  <a:srgbClr val="262626"/>
                </a:solidFill>
                <a:latin typeface="Arial"/>
                <a:cs typeface="Arial"/>
              </a:rPr>
              <a:t>with </a:t>
            </a:r>
            <a:r>
              <a:rPr dirty="0" sz="1050" spc="-10">
                <a:solidFill>
                  <a:srgbClr val="2F2F2F"/>
                </a:solidFill>
                <a:latin typeface="Arial"/>
                <a:cs typeface="Arial"/>
              </a:rPr>
              <a:t>noisy</a:t>
            </a:r>
            <a:r>
              <a:rPr dirty="0" sz="1050" spc="-60">
                <a:solidFill>
                  <a:srgbClr val="2F2F2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12121"/>
                </a:solidFill>
                <a:latin typeface="Arial"/>
                <a:cs typeface="Arial"/>
              </a:rPr>
              <a:t>features</a:t>
            </a:r>
            <a:endParaRPr sz="1050">
              <a:latin typeface="Arial"/>
              <a:cs typeface="Arial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7534027" y="5052457"/>
            <a:ext cx="20961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2A2A2A"/>
                </a:solidFill>
                <a:latin typeface="Arial"/>
                <a:cs typeface="Arial"/>
              </a:rPr>
              <a:t>Preserved</a:t>
            </a:r>
            <a:r>
              <a:rPr dirty="0" sz="1000" spc="5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42424"/>
                </a:solidFill>
                <a:latin typeface="Arial"/>
                <a:cs typeface="Arial"/>
              </a:rPr>
              <a:t>core</a:t>
            </a:r>
            <a:r>
              <a:rPr dirty="0" sz="1000" spc="15">
                <a:solidFill>
                  <a:srgbClr val="242424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62626"/>
                </a:solidFill>
                <a:latin typeface="Arial"/>
                <a:cs typeface="Arial"/>
              </a:rPr>
              <a:t>behavioural</a:t>
            </a:r>
            <a:r>
              <a:rPr dirty="0" sz="1000" spc="50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242424"/>
                </a:solidFill>
                <a:latin typeface="Arial"/>
                <a:cs typeface="Arial"/>
              </a:rPr>
              <a:t>patterns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2026-02-23T16:14:48Z</dcterms:created>
  <dcterms:modified xsi:type="dcterms:W3CDTF">2026-02-23T16:14:48Z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2026-02-23T00:00:00Z</vt:filetime>
  </property>
  <property fmtid="{D5CDD505-2E9C-101B-9397-08002B2CF9AE}" pid="3" name="LastSaved">
    <vt:filetime>2026-02-23T00:00:00Z</vt:filetime>
  </property>
  <property fmtid="{D5CDD505-2E9C-101B-9397-08002B2CF9AE}" pid="4" name="Producer">
    <vt:lpwstr>3-Heights(TM) PDF Security Shell 4.8.25.2 (http://www.pdf-tools.com)</vt:lpwstr>
  </property>
</Properties>
</file>